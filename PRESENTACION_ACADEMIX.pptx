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52160" y="0"/>
            <a:ext cx="73152" cy="68580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274320"/>
            <a:ext cx="137160" cy="1371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74320"/>
            <a:ext cx="137160" cy="1371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66559" y="274320"/>
            <a:ext cx="137160" cy="1371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274320"/>
            <a:ext cx="137160" cy="1371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274320"/>
            <a:ext cx="137160" cy="137160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008BD4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9144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ACADEMIX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3FF"/>
                </a:solidFill>
              </a:rPr>
              <a:t>Plataforma Integral de Gestión Académica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651760"/>
            <a:ext cx="3200400" cy="457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Django 5.x  ·  Python 3.11  ·  Bootstrap 5  ·  SQLite 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Programa de 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Análisis y Desarrollo de Software (ADSO)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SENA — Centro de Formación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Instructor: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Anybal López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Versión: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2.0 — Entrega Formal y Operativa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54864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¿Qué es ACADEMIX?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Visión General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4FD"/>
                </a:solidFill>
              </a:rPr>
              <a:t>ACADEMIX es una plataforma web institucional diseñada para digitalizar y automatizar la gestión académica completa de instituciones educativas de educación básica y media en Colombia.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2651760" cy="3474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26517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880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3FF"/>
                </a:solidFill>
              </a:rPr>
              <a:t>Multirol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</a:rPr>
              <a:t>Rector, Coordinador,
Secretaria, Docente,
Estudiante y Padres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743200"/>
            <a:ext cx="2651760" cy="3474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26517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3FF"/>
                </a:solidFill>
              </a:rPr>
              <a:t>Red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2336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</a:rPr>
              <a:t>Opera en LAN/Wi-Fi
sin Internet externo.
También Cloud-Ready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2651760" cy="3474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26517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880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3FF"/>
                </a:solidFill>
              </a:rPr>
              <a:t>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2336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</a:rPr>
              <a:t>Decreto 1290/2009
Ley 1581/2012
OWASP Top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743200"/>
            <a:ext cx="2651760" cy="3474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743200"/>
            <a:ext cx="26517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880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3FF"/>
                </a:solidFill>
              </a:rPr>
              <a:t>Modular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2336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</a:rPr>
              <a:t>15 módulos
integrados
con bajo acoplamiento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Arquitectura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Stack completo · Patrón MVT · Modularidad por dominios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Stack Tecnológico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30352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🐍  Python 3.11+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54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Lenguaje principal del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530352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🌐  Django 5.1.x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998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Framework MVT (Model-View-Template)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530352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🗄️  SQLite / 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142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Motor de BD con modo WAL habilitado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26280"/>
            <a:ext cx="530352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🎨  Bootstrap 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286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Interfaz responsiva corporativa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40680"/>
            <a:ext cx="530352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⚡  HTMX 1.9.10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430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Reactividad liviana sin SPA compleja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Principios de Diseño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Patrón MVT con capa de servicios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SOLID · Clean Architecture · DRY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Estándar PEP 8 (Python)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ISO/IEC 25010 — Calidad de Software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Scrum Ágil — 5 Sprints ejecutados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ATOMIC_REQUESTS — Transacciones atómicas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E8F4FD"/>
                </a:solidFill>
              </a:rPr>
              <a:t>▸ DecimalField — Precisión numérica estricta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Módulos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15 módulos integrados · Bajo acoplamiento · Alta cohesión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04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Identidades
y Roles RBAC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37160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37160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39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304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Expedientes
Estudiantiles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37160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59" y="137160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👩‍🏫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2304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Ficha Docente
y Asignación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37160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37160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79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grades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2304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Calificaciones
y Promedios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37160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37160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4630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993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30428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Control de
Asistencia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10896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10896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homework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4164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Tareas y
Consignas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39" y="310896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39" y="310896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39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reports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39" y="404164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Boletines
Oficiales PDF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59" y="310896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59" y="310896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59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59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audit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59" y="404164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Auditoría
Inmutable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79" y="310896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69479" y="310896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79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79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79" y="404164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Semáforos
y Alertas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310896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01200" y="310896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3200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🏫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73075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courses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404164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Años, Grados
y Cursos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484632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" y="484632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5468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subjects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779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Malla
Curricular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84632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06039" y="484632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06039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6039" y="5468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periods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06039" y="5779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Periodos
Académicos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59" y="484632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37759" y="484632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37759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59" y="5468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finance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59" y="5779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Gestión
Financiera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79" y="484632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269479" y="484632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79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69479" y="5468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rules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79" y="5779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Motor Dec.
1290/2009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1200" y="4846320"/>
            <a:ext cx="2194560" cy="1600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601200" y="4846320"/>
            <a:ext cx="219456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01200" y="4937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54681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4"/>
                </a:solidFill>
              </a:rPr>
              <a:t>discipline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0" y="5779008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4FD"/>
                </a:solidFill>
              </a:rPr>
              <a:t>Observaciones
y Disciplina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Seguridad y Control de Acceso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C3FF"/>
                </a:solidFill>
              </a:rPr>
              <a:t>OWASP Top 10 · Roles diferenciados · Auditoría inmutable · PBKDF2-SHA256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657600" cy="731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🔑 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Control total del sistema,
logs de auditoría, configuración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65760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508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🏛️  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Supervisión institucional,
dashboards ejecutivos y cierres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508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📋  SECRETARIA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103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Matrículas, expedientes
y asignación de cursos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57600"/>
            <a:ext cx="36576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👩‍🏫  DOCENTE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89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Planillas de notas,
asistencia y tareas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657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657600"/>
            <a:ext cx="3657600" cy="73152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19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🎓  ESTUDIANTE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19" y="4389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Consulta de notas,
boletines y asistencias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3657600" cy="20116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657600"/>
            <a:ext cx="3657600" cy="73152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👨‍👩‍👧  PADRE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43891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4FD"/>
                </a:solidFill>
              </a:rPr>
              <a:t>Seguimiento integral
de su acudido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🛡️ Protecciones implementadas: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Anti-CSRF multi-host  ·  ORM contra SQL Injection  ·  Hashes PBKDF2-SHA256  ·  Auto-escape HTML contra XSS  ·  AuditLog inmutable con IP y delta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Funcionalidades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Todo lo que necesita una institución educativa en un solo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2423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577840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📊 Gestión de Calificaciones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5486400" cy="137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Planillas dinámicas por docente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Componentes ponderados (Saber, Hacer, Ser)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Cálculo automático de promedios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Escala Decreto 1290: Bajo/Básico/Alto/Superior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577840" cy="2423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577840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📋 Control de Asistencia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65960"/>
            <a:ext cx="5486400" cy="137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Registro diario por asignatura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Alerta automática al superar 20% faltas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Semáforo visual HTMX en tiempo real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Reportes consolidados por período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023360"/>
            <a:ext cx="5577840" cy="2423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5577840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330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📄 Boletines y Reportes 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20"/>
            <a:ext cx="5486400" cy="137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Boletines oficiales por período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Generados con ReportLab / WeasyPrint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Cuadros de honor automáticos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Consolidados institucionales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023360"/>
            <a:ext cx="5577840" cy="24231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23360"/>
            <a:ext cx="5577840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13308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📝 Tareas y Homework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617720"/>
            <a:ext cx="5486400" cy="1371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Gestión de consignas pedagógicas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Entregas digitales de estudiantes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Calificación desde el portal docente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Historial por asignatura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Despliegue e 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Red local (LAN/Wi-Fi) · Producción en nube · Instalación en 3 días hábiles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Fases de Instalación (15 horas / 3 días)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457200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20"/>
            <a:ext cx="182880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2103120" cy="1737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Alistamiento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889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Verificación hardware
y red 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⏱ 4h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91640"/>
            <a:ext cx="457200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874520"/>
            <a:ext cx="182880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2286000"/>
            <a:ext cx="2103120" cy="1737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Software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7889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Python 3.11, Git
y 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⏱ 2h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79" y="1691640"/>
            <a:ext cx="457200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79" y="1874520"/>
            <a:ext cx="182880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479" y="2286000"/>
            <a:ext cx="2103120" cy="1737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1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Despliegue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19" y="27889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Repo, venv
y requirements.txt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19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⏱ 3h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199" y="1691640"/>
            <a:ext cx="457200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199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399" y="1874520"/>
            <a:ext cx="182880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199" y="2286000"/>
            <a:ext cx="2103120" cy="1737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3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39" y="27889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Migraciones, catálogos
y superusuario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39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⏱ 2h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19" y="1691640"/>
            <a:ext cx="457200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2286000"/>
            <a:ext cx="2103120" cy="1737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5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59" y="27889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Smoke tests
y capacitación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59" y="3611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⏱ 4h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389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Requisitos Mínimos del Servidor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9204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3FF"/>
                </a:solidFill>
              </a:rPr>
              <a:t>CPU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806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</a:rPr>
              <a:t>Intel Core i3 7ª gen / AMD Ryzen 3 — 4 núcleos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489204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3FF"/>
                </a:solidFill>
              </a:rPr>
              <a:t>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806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</a:rPr>
              <a:t>4 GB DDR4 (mínimo 2 GB libres)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79" y="489204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79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79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3FF"/>
                </a:solidFill>
              </a:rPr>
              <a:t>Disco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19" y="5806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</a:rPr>
              <a:t>20 GB libres (SSD recomendado 50 GB)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199" y="489204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199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199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3FF"/>
                </a:solidFill>
              </a:rPr>
              <a:t>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39" y="5806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</a:rPr>
              <a:t>Ethernet 100/1000 Mbps · Puerto TCP 8000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19" y="4892040"/>
            <a:ext cx="219456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46919" y="4983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5486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3FF"/>
                </a:solidFill>
              </a:rPr>
              <a:t>SO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59" y="58064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</a:rPr>
              <a:t>Windows 10/11 Pro 64-bit o Ubuntu Server 22.04 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Estrategia de Respaldos y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Política 3-2-1 · Automatización · DRP · RTO y RPO definidos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</a:rPr>
              <a:t>Regla de Oro 3-2-1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48640" cy="685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Copias de la información activa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34640"/>
            <a:ext cx="548640" cy="685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83464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Medios de almacenamiento diferentes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548640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4048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50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D"/>
                </a:solidFill>
              </a:rPr>
              <a:t>Copia off-site fuera de instalaciones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</a:rPr>
              <a:t>Tipos de Respaldo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5577840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73152" cy="1188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📦 Completo (Full)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Semanal — Viernes 8:00 PM
Cierre de período académico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5577840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200400"/>
            <a:ext cx="73152" cy="11887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📁 Diferencial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033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Quincenal — Mié. y Vie. 7:00 PM
Desde último respaldo Full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0"/>
            <a:ext cx="5577840" cy="1188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0"/>
            <a:ext cx="73152" cy="1188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📂 Incremental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74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4FD"/>
                </a:solidFill>
              </a:rPr>
              <a:t>Diario — Lun. a Vie. 6:30 PM
Solo archivos del día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120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📊 Métricas de Recuperación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577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D"/>
                </a:solidFill>
              </a:rPr>
              <a:t>RTO (Recovery Time Objective):   ≤ 4 horas hábiles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4FD"/>
                </a:solidFill>
              </a:rPr>
              <a:t>RPO (Recovery Point Objective):  ≤ 24 horas (máximo 1 día de datos)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Normativa y Cumplimiento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3FF"/>
                </a:solidFill>
              </a:rPr>
              <a:t>Marco legal colombiano · Estándares internacionales · Licenciamiento Open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📜  Decreto 1290/2009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Evaluación y Promoción Escolar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Escala Bajo/Básico/Alto/Superior, umbral de reprobación, límite 20% inasistencias y boletines oficiales por 4 períodos.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258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🔒  Ley 1581/2012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Habeas Data — Protección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Tratamiento y protección de datos personales de estudiantes, docentes y acudientes. Consentimiento explícito requerido.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🛡️  OWASP Top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Seguridad en Aplicaciones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Anti-CSRF, protección SQL Injection vía ORM, hashes PBKDF2-SHA256, auto-escape XSS y headers de seguridad HTTP.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1546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1546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📐  ISO/IEC 25010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Calidad del Producto de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31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Evaluación de usabilidad, mantenibilidad, fiabilidad, portabilidad y seguridad del sistema en producción.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834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834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🏫  Ley 115/1994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486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Ley General de Educación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607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Marco legal del sistema educativo colombiano que rige la organización curricular, los grados y la evaluación del aprendizaje.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983480"/>
            <a:ext cx="5577840" cy="1645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983480"/>
            <a:ext cx="64008" cy="1645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74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💻  Licencias Open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486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FF"/>
                </a:solidFill>
              </a:rPr>
              <a:t>Costo de Licenciamiento: $0 COP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7607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</a:rPr>
              <a:t>Django (BSD), Python (PSF), Bootstrap (MIT), SQLite (Dominio Público), ReportLab (BSD). Cumplimiento legal total.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Estado del Proyecto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E596"/>
                </a:solidFill>
              </a:rPr>
              <a:t>✅ Ejecutado y validado al 100% — Listo para despliegue institucional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1031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103120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8132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8BD4"/>
                </a:solidFill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Módulos
integrados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21031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103120" cy="640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48132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E596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Roles RBAC
diferenciados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1371600"/>
            <a:ext cx="21031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3479" y="1371600"/>
            <a:ext cx="210312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148132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D700"/>
                </a:solidFill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Migraciones
de BD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199" y="1371600"/>
            <a:ext cx="21031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199" y="1371600"/>
            <a:ext cx="2103120" cy="64008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9" y="148132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DA70D6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Sprints Scrum
ejecutados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6919" y="1371600"/>
            <a:ext cx="2103120" cy="155448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46919" y="1371600"/>
            <a:ext cx="2103120" cy="64008"/>
          </a:xfrm>
          <a:prstGeom prst="rect">
            <a:avLst/>
          </a:prstGeom>
          <a:solidFill>
            <a:srgbClr val="00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19" y="1481328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3FF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286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Costo de
licencias COP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</a:rPr>
              <a:t>✅ Logros Alcanzados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56616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Plataforma 100% funcional en red LAN y compatible con nube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15 módulos desarrollados con arquitectura MVT y servicios desacoplados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Motor de reglas pedagógicas basado en Decreto 1290/2009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Sistema de auditoría inmutable con trazabilidad JSON completa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Generación automática de boletines PDF oficiales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Documentación técnica y administrativa completa entregada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08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700"/>
                </a:solidFill>
              </a:rPr>
              <a:t>🚀 Próximos Pasos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56616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Despliegue formal en institución educativa beneficiaria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Capacitación a docentes, secretaría y directivos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Migración de datos históricos existentes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Configuración de respaldos automáticos (Task Scheduler)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8F4FD"/>
                </a:solidFill>
              </a:rPr>
              <a:t>▸ Monitoreo post-despliegue y soporte inicial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309360"/>
            <a:ext cx="11521440" cy="457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4008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8F4FD"/>
                </a:solidFill>
              </a:rPr>
              <a:t>ACADEMIX  ·  Programa ADSO — SENA  ·  Instructor: Anybal López  ·  Octubre 2026  ·  Versión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