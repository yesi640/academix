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48640"/>
            <a:ext cx="10728655" cy="54864"/>
          </a:xfrm>
          <a:prstGeom prst="rect">
            <a:avLst/>
          </a:prstGeom>
          <a:solidFill>
            <a:srgbClr val="0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822960"/>
            <a:ext cx="4114800" cy="41148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A8FF"/>
                </a:solidFill>
                <a:latin typeface="Calibri"/>
              </a:defRPr>
            </a:pPr>
            <a:r>
              <a:t>SUSTENTACIÓN DE PROYECTO FORMATIVO SENA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600" b="1">
                <a:solidFill>
                  <a:srgbClr val="FFFFFF"/>
                </a:solidFill>
                <a:latin typeface="Calibri"/>
              </a:defRPr>
            </a:pPr>
            <a:r>
              <a:t>ACADEMIX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3774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48CAE4"/>
                </a:solidFill>
                <a:latin typeface="Calibri"/>
              </a:defRPr>
            </a:pPr>
            <a:r>
              <a:t>Sistema Integral de Gestión Académica, Convivencia Escolar y Control Institucional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291840"/>
            <a:ext cx="5120640" cy="2560320"/>
          </a:xfrm>
          <a:prstGeom prst="roundRect">
            <a:avLst/>
          </a:prstGeom>
          <a:solidFill>
            <a:srgbClr val="1C2541"/>
          </a:solidFill>
          <a:ln>
            <a:solidFill>
              <a:srgbClr val="2D41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/>
          <a:lstStyle/>
          <a:p>
            <a:pPr algn="ctr">
              <a:spcAft>
                <a:spcPts val="1000"/>
              </a:spcAft>
              <a:defRPr sz="1300" b="1">
                <a:solidFill>
                  <a:srgbClr val="00A8FF"/>
                </a:solidFill>
                <a:latin typeface="Calibri"/>
              </a:defRPr>
            </a:pPr>
            <a:r>
              <a:t>DATOS INSTITUCIONALES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FFFFFF"/>
                </a:solidFill>
              </a:rPr>
              <a:t>Institución: </a:t>
            </a:r>
            <a:r>
              <a:rPr b="0" sz="1100">
                <a:solidFill>
                  <a:srgbClr val="B4C3D7"/>
                </a:solidFill>
              </a:rPr>
              <a:t>Servicio Nacional de Aprendizaje (SENA)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FFFFFF"/>
                </a:solidFill>
              </a:rPr>
              <a:t>Centro: </a:t>
            </a:r>
            <a:r>
              <a:rPr b="0" sz="1100">
                <a:solidFill>
                  <a:srgbClr val="B4C3D7"/>
                </a:solidFill>
              </a:rPr>
              <a:t>Centro de Comercio y Servicios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FFFFFF"/>
                </a:solidFill>
              </a:rPr>
              <a:t>Programa: </a:t>
            </a:r>
            <a:r>
              <a:rPr b="0" sz="1100">
                <a:solidFill>
                  <a:srgbClr val="B4C3D7"/>
                </a:solidFill>
              </a:rPr>
              <a:t>Tecnología en Análisis y Desarrollo de Software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FFFFFF"/>
                </a:solidFill>
              </a:rPr>
              <a:t>Ficha: </a:t>
            </a:r>
            <a:r>
              <a:rPr b="0" sz="1100">
                <a:solidFill>
                  <a:srgbClr val="B4C3D7"/>
                </a:solidFill>
              </a:rPr>
              <a:t>3173430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FFFFFF"/>
                </a:solidFill>
              </a:rPr>
              <a:t>Instructor Líder: </a:t>
            </a:r>
            <a:r>
              <a:rPr b="0" sz="1100">
                <a:solidFill>
                  <a:srgbClr val="B4C3D7"/>
                </a:solidFill>
              </a:rPr>
              <a:t>Anybal López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FFFFFF"/>
                </a:solidFill>
              </a:rPr>
              <a:t>Lugar y Año: </a:t>
            </a:r>
            <a:r>
              <a:rPr b="0" sz="1100">
                <a:solidFill>
                  <a:srgbClr val="B4C3D7"/>
                </a:solidFill>
              </a:rPr>
              <a:t>Colombia - 2026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3291840"/>
            <a:ext cx="5303520" cy="256032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/>
          <a:lstStyle/>
          <a:p>
            <a:pPr algn="ctr">
              <a:spcAft>
                <a:spcPts val="1200"/>
              </a:spcAft>
              <a:defRPr sz="1300" b="1">
                <a:solidFill>
                  <a:srgbClr val="48CAE4"/>
                </a:solidFill>
                <a:latin typeface="Calibri"/>
              </a:defRPr>
            </a:pPr>
            <a:r>
              <a:t>EQUIPO DE DESARROLLO Y SUSTENTACIÓN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FFFFFF"/>
                </a:solidFill>
              </a:rPr>
              <a:t>1. Yurleidis Londoño
</a:t>
            </a:r>
            <a:r>
              <a:rPr b="0" sz="1050">
                <a:solidFill>
                  <a:srgbClr val="B4C3D7"/>
                </a:solidFill>
              </a:rPr>
              <a:t>   Temas 1 y 2 • Problemática, Qué es ACADEMIX y Despliegue Técnico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FFFFFF"/>
                </a:solidFill>
              </a:rPr>
              <a:t>2. Nurys González
</a:t>
            </a:r>
            <a:r>
              <a:rPr b="0" sz="1050">
                <a:solidFill>
                  <a:srgbClr val="B4C3D7"/>
                </a:solidFill>
              </a:rPr>
              <a:t>   Temas 3 y 4 • Respaldo, Recuperación, Arquitectura MVT y RBAC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FFFFFF"/>
                </a:solidFill>
              </a:rPr>
              <a:t>3. Yesireth Cabrera
</a:t>
            </a:r>
            <a:r>
              <a:rPr b="0" sz="1050">
                <a:solidFill>
                  <a:srgbClr val="B4C3D7"/>
                </a:solidFill>
              </a:rPr>
              <a:t>   Temas 5 y 6 • Seguridad OWASP, Mitigaciones, Pruebas y Rendimiento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9728" cy="868680"/>
          </a:xfrm>
          <a:prstGeom prst="rect">
            <a:avLst/>
          </a:prstGeom>
          <a:solidFill>
            <a:srgbClr val="0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32004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8CAE4"/>
                </a:solidFill>
                <a:latin typeface="Calibri"/>
              </a:defRPr>
            </a:pPr>
            <a:r>
              <a:t>AGENDA TEMÁTICA DE SUSTENTACIÓN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594360"/>
            <a:ext cx="7772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FFFFFF"/>
                </a:solidFill>
                <a:latin typeface="Calibri"/>
              </a:defRPr>
            </a:pPr>
            <a:r>
              <a:t>Ruta de la Presentación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61120" y="457200"/>
            <a:ext cx="2468880" cy="640080"/>
          </a:xfrm>
          <a:prstGeom prst="roundRect">
            <a:avLst/>
          </a:prstGeom>
          <a:solidFill>
            <a:srgbClr val="1C2541"/>
          </a:solidFill>
          <a:ln w="15240"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00A8FF"/>
                </a:solidFill>
                <a:latin typeface="Calibri"/>
              </a:defRPr>
            </a:pPr>
            <a:r>
              <a:t>PONENTE ASIGNADA</a:t>
            </a:r>
          </a:p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Equipo Ponente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2D41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35508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4C3D7"/>
                </a:solidFill>
                <a:latin typeface="Calibri"/>
              </a:defRPr>
            </a:pPr>
            <a:r>
              <a:t>ACADEMIX | Plataforma de Gestión Escolar Integral • SENA Ficha 3173430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35508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00A8FF"/>
                </a:solidFill>
                <a:latin typeface="Calibri"/>
              </a:defRPr>
            </a:pPr>
            <a:r>
              <a:t>2 / 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463040"/>
            <a:ext cx="10728655" cy="713232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2D41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68680" y="1554480"/>
            <a:ext cx="530352" cy="530352"/>
          </a:xfrm>
          <a:prstGeom prst="roundRect">
            <a:avLst/>
          </a:prstGeom>
          <a:solidFill>
            <a:srgbClr val="0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B132B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1554480"/>
            <a:ext cx="53035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Calibri"/>
              </a:defRPr>
            </a:pPr>
            <a:r>
              <a:t>Qué es ACADEMIX y entorno de despliegue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040880" y="1581912"/>
            <a:ext cx="2011680" cy="457200"/>
          </a:xfrm>
          <a:prstGeom prst="roundRect">
            <a:avLst/>
          </a:prstGeom>
          <a:solidFill>
            <a:srgbClr val="10192D"/>
          </a:solidFill>
          <a:ln>
            <a:solidFill>
              <a:srgbClr val="2D41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48CAE4"/>
                </a:solidFill>
                <a:latin typeface="Calibri"/>
              </a:defRPr>
            </a:pPr>
            <a:r>
              <a:t>Yurleidis Londoño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89720" y="1581912"/>
            <a:ext cx="2103120" cy="457200"/>
          </a:xfrm>
          <a:prstGeom prst="roundRect">
            <a:avLst/>
          </a:prstGeom>
          <a:solidFill>
            <a:srgbClr val="10192D"/>
          </a:solidFill>
          <a:ln w="12700"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  <a:latin typeface="Calibri"/>
              </a:defRPr>
            </a:pPr>
            <a:r>
              <a:t>Fundamentos &amp; Alcance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2258568"/>
            <a:ext cx="10728655" cy="713232"/>
          </a:xfrm>
          <a:prstGeom prst="roundRect">
            <a:avLst/>
          </a:prstGeom>
          <a:solidFill>
            <a:srgbClr val="141E37"/>
          </a:solidFill>
          <a:ln w="12700">
            <a:solidFill>
              <a:srgbClr val="2D41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68680" y="2350008"/>
            <a:ext cx="530352" cy="530352"/>
          </a:xfrm>
          <a:prstGeom prst="roundRect">
            <a:avLst/>
          </a:prstGeom>
          <a:solidFill>
            <a:srgbClr val="48C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B132B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2350008"/>
            <a:ext cx="53035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Calibri"/>
              </a:defRPr>
            </a:pPr>
            <a:r>
              <a:t>Pasos de despliegue e instalación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040880" y="2377440"/>
            <a:ext cx="2011680" cy="457200"/>
          </a:xfrm>
          <a:prstGeom prst="roundRect">
            <a:avLst/>
          </a:prstGeom>
          <a:solidFill>
            <a:srgbClr val="10192D"/>
          </a:solidFill>
          <a:ln>
            <a:solidFill>
              <a:srgbClr val="2D41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48CAE4"/>
                </a:solidFill>
                <a:latin typeface="Calibri"/>
              </a:defRPr>
            </a:pPr>
            <a:r>
              <a:t>Yurleidis Londoño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89720" y="2377440"/>
            <a:ext cx="2103120" cy="457200"/>
          </a:xfrm>
          <a:prstGeom prst="roundRect">
            <a:avLst/>
          </a:prstGeom>
          <a:solidFill>
            <a:srgbClr val="10192D"/>
          </a:solidFill>
          <a:ln w="12700">
            <a:solidFill>
              <a:srgbClr val="48C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  <a:latin typeface="Calibri"/>
              </a:defRPr>
            </a:pPr>
            <a:r>
              <a:t>Servidor, WSGI &amp; Nginx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054096"/>
            <a:ext cx="10728655" cy="713232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2D41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68680" y="3145536"/>
            <a:ext cx="530352" cy="530352"/>
          </a:xfrm>
          <a:prstGeom prst="round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B132B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3145536"/>
            <a:ext cx="53035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Calibri"/>
              </a:defRPr>
            </a:pPr>
            <a:r>
              <a:t>Respaldo, recuperación y observabilidad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040880" y="3172968"/>
            <a:ext cx="2011680" cy="457200"/>
          </a:xfrm>
          <a:prstGeom prst="roundRect">
            <a:avLst/>
          </a:prstGeom>
          <a:solidFill>
            <a:srgbClr val="10192D"/>
          </a:solidFill>
          <a:ln>
            <a:solidFill>
              <a:srgbClr val="2D41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48CAE4"/>
                </a:solidFill>
                <a:latin typeface="Calibri"/>
              </a:defRPr>
            </a:pPr>
            <a:r>
              <a:t>Nurys González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89720" y="3172968"/>
            <a:ext cx="2103120" cy="457200"/>
          </a:xfrm>
          <a:prstGeom prst="roundRect">
            <a:avLst/>
          </a:prstGeom>
          <a:solidFill>
            <a:srgbClr val="10192D"/>
          </a:solidFill>
          <a:ln w="1270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  <a:latin typeface="Calibri"/>
              </a:defRPr>
            </a:pPr>
            <a:r>
              <a:t>Regla 3-2-1, RTO &amp; RPO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3849624"/>
            <a:ext cx="10728655" cy="713232"/>
          </a:xfrm>
          <a:prstGeom prst="roundRect">
            <a:avLst/>
          </a:prstGeom>
          <a:solidFill>
            <a:srgbClr val="141E37"/>
          </a:solidFill>
          <a:ln w="12700">
            <a:solidFill>
              <a:srgbClr val="2D41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68680" y="3941063"/>
            <a:ext cx="530352" cy="530352"/>
          </a:xfrm>
          <a:prstGeom prst="roundRect">
            <a:avLst/>
          </a:prstGeom>
          <a:solidFill>
            <a:srgbClr val="0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B132B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54480" y="3941063"/>
            <a:ext cx="53035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Calibri"/>
              </a:defRPr>
            </a:pPr>
            <a:r>
              <a:t>Arquitectura y aseguramiento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040880" y="3968496"/>
            <a:ext cx="2011680" cy="457200"/>
          </a:xfrm>
          <a:prstGeom prst="roundRect">
            <a:avLst/>
          </a:prstGeom>
          <a:solidFill>
            <a:srgbClr val="10192D"/>
          </a:solidFill>
          <a:ln>
            <a:solidFill>
              <a:srgbClr val="2D41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48CAE4"/>
                </a:solidFill>
                <a:latin typeface="Calibri"/>
              </a:defRPr>
            </a:pPr>
            <a:r>
              <a:t>Nurys González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189720" y="3968496"/>
            <a:ext cx="2103120" cy="457200"/>
          </a:xfrm>
          <a:prstGeom prst="roundRect">
            <a:avLst/>
          </a:prstGeom>
          <a:solidFill>
            <a:srgbClr val="10192D"/>
          </a:solidFill>
          <a:ln w="12700"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  <a:latin typeface="Calibri"/>
              </a:defRPr>
            </a:pPr>
            <a:r>
              <a:t>MVT 15 Apps &amp; RBAC 6 Roles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20" y="4645152"/>
            <a:ext cx="10728655" cy="713232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2D41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68680" y="4736592"/>
            <a:ext cx="530352" cy="530352"/>
          </a:xfrm>
          <a:prstGeom prst="roundRect">
            <a:avLst/>
          </a:prstGeom>
          <a:solidFill>
            <a:srgbClr val="FFB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B132B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54480" y="4736592"/>
            <a:ext cx="53035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Calibri"/>
              </a:defRPr>
            </a:pPr>
            <a:r>
              <a:t>Vulnerabilidades y alternativas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040880" y="4764024"/>
            <a:ext cx="2011680" cy="457200"/>
          </a:xfrm>
          <a:prstGeom prst="roundRect">
            <a:avLst/>
          </a:prstGeom>
          <a:solidFill>
            <a:srgbClr val="10192D"/>
          </a:solidFill>
          <a:ln>
            <a:solidFill>
              <a:srgbClr val="2D41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48CAE4"/>
                </a:solidFill>
                <a:latin typeface="Calibri"/>
              </a:defRPr>
            </a:pPr>
            <a:r>
              <a:t>Yesireth Cabrera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189720" y="4764024"/>
            <a:ext cx="2103120" cy="457200"/>
          </a:xfrm>
          <a:prstGeom prst="roundRect">
            <a:avLst/>
          </a:prstGeom>
          <a:solidFill>
            <a:srgbClr val="10192D"/>
          </a:solidFill>
          <a:ln w="12700">
            <a:solidFill>
              <a:srgbClr val="FFB7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  <a:latin typeface="Calibri"/>
              </a:defRPr>
            </a:pPr>
            <a:r>
              <a:t>OWASP, SQLi, CSRF &amp; Ley 1581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31520" y="5440679"/>
            <a:ext cx="10728655" cy="713232"/>
          </a:xfrm>
          <a:prstGeom prst="roundRect">
            <a:avLst/>
          </a:prstGeom>
          <a:solidFill>
            <a:srgbClr val="141E37"/>
          </a:solidFill>
          <a:ln w="12700">
            <a:solidFill>
              <a:srgbClr val="2D41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868680" y="5532119"/>
            <a:ext cx="530352" cy="530352"/>
          </a:xfrm>
          <a:prstGeom prst="roundRect">
            <a:avLst/>
          </a:prstGeom>
          <a:solidFill>
            <a:srgbClr val="48C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B132B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554480" y="5532119"/>
            <a:ext cx="53035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Calibri"/>
              </a:defRPr>
            </a:pPr>
            <a:r>
              <a:t>Pruebas, rendimiento y conclusiones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040880" y="5559551"/>
            <a:ext cx="2011680" cy="457200"/>
          </a:xfrm>
          <a:prstGeom prst="roundRect">
            <a:avLst/>
          </a:prstGeom>
          <a:solidFill>
            <a:srgbClr val="10192D"/>
          </a:solidFill>
          <a:ln>
            <a:solidFill>
              <a:srgbClr val="2D41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48CAE4"/>
                </a:solidFill>
                <a:latin typeface="Calibri"/>
              </a:defRPr>
            </a:pPr>
            <a:r>
              <a:t>Yesireth Cabrera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189720" y="5559551"/>
            <a:ext cx="2103120" cy="457200"/>
          </a:xfrm>
          <a:prstGeom prst="roundRect">
            <a:avLst/>
          </a:prstGeom>
          <a:solidFill>
            <a:srgbClr val="10192D"/>
          </a:solidFill>
          <a:ln w="12700">
            <a:solidFill>
              <a:srgbClr val="48C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  <a:latin typeface="Calibri"/>
              </a:defRPr>
            </a:pPr>
            <a:r>
              <a:t>Smoke Tests, N+1 &amp; ISO 25010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9728" cy="868680"/>
          </a:xfrm>
          <a:prstGeom prst="rect">
            <a:avLst/>
          </a:prstGeom>
          <a:solidFill>
            <a:srgbClr val="0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32004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8CAE4"/>
                </a:solidFill>
                <a:latin typeface="Calibri"/>
              </a:defRPr>
            </a:pPr>
            <a:r>
              <a:t>CONTEXTO DE IMPACTO EDUCATIVO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594360"/>
            <a:ext cx="7772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FFFFFF"/>
                </a:solidFill>
                <a:latin typeface="Calibri"/>
              </a:defRPr>
            </a:pPr>
            <a:r>
              <a:t>¿Qué Mejora en los Colegios con ACADEMIX?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61120" y="457200"/>
            <a:ext cx="2468880" cy="640080"/>
          </a:xfrm>
          <a:prstGeom prst="roundRect">
            <a:avLst/>
          </a:prstGeom>
          <a:solidFill>
            <a:srgbClr val="1C2541"/>
          </a:solidFill>
          <a:ln w="15240"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00A8FF"/>
                </a:solidFill>
                <a:latin typeface="Calibri"/>
              </a:defRPr>
            </a:pPr>
            <a:r>
              <a:t>PONENTE ASIGNADA</a:t>
            </a:r>
          </a:p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Yurleidis Londoño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2D41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35508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4C3D7"/>
                </a:solidFill>
                <a:latin typeface="Calibri"/>
              </a:defRPr>
            </a:pPr>
            <a:r>
              <a:t>ACADEMIX | Plataforma de Gestión Escolar Integral • SENA Ficha 3173430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35508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00A8FF"/>
                </a:solidFill>
                <a:latin typeface="Calibri"/>
              </a:defRPr>
            </a:pPr>
            <a:r>
              <a:t>3 / 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463040"/>
            <a:ext cx="5212080" cy="457200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FFB7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 bIns="182880"/>
          <a:lstStyle/>
          <a:p>
            <a:pPr algn="ctr">
              <a:spcAft>
                <a:spcPts val="1000"/>
              </a:spcAft>
              <a:defRPr sz="1500" b="1">
                <a:solidFill>
                  <a:srgbClr val="48CAE4"/>
                </a:solidFill>
                <a:latin typeface="Calibri"/>
              </a:defRPr>
            </a:pPr>
            <a:r>
              <a:t>La Realidad Tradicional en las Escuelas</a:t>
            </a:r>
          </a:p>
          <a:p>
            <a:pPr>
              <a:spcAft>
                <a:spcPts val="700"/>
              </a:spcAft>
              <a:defRPr sz="1200">
                <a:latin typeface="Calibri"/>
              </a:defRPr>
            </a:pPr>
            <a:r>
              <a:rPr b="1">
                <a:solidFill>
                  <a:srgbClr val="FFFFFF"/>
                </a:solidFill>
              </a:rPr>
              <a:t>• Pérdida y Dispersión de Información: </a:t>
            </a:r>
            <a:r>
              <a:rPr b="0">
                <a:solidFill>
                  <a:srgbClr val="B4C3D7"/>
                </a:solidFill>
              </a:rPr>
              <a:t>Planillas físicas en papel, carpetas extraviadas y archivos Excel dispersos sin respaldo.</a:t>
            </a:r>
          </a:p>
          <a:p>
            <a:pPr>
              <a:spcAft>
                <a:spcPts val="700"/>
              </a:spcAft>
              <a:defRPr sz="1200">
                <a:latin typeface="Calibri"/>
              </a:defRPr>
            </a:pPr>
            <a:r>
              <a:rPr b="1">
                <a:solidFill>
                  <a:srgbClr val="FFFFFF"/>
                </a:solidFill>
              </a:rPr>
              <a:t>• Aislamiento Familia-Escuela: </a:t>
            </a:r>
            <a:r>
              <a:rPr b="0">
                <a:solidFill>
                  <a:srgbClr val="B4C3D7"/>
                </a:solidFill>
              </a:rPr>
              <a:t>Los acudientes se enteraban del bajo rendimiento o faltas de asistencia semanas después en entrega de notas.</a:t>
            </a:r>
          </a:p>
          <a:p>
            <a:pPr>
              <a:spcAft>
                <a:spcPts val="700"/>
              </a:spcAft>
              <a:defRPr sz="1200">
                <a:latin typeface="Calibri"/>
              </a:defRPr>
            </a:pPr>
            <a:r>
              <a:rPr b="1">
                <a:solidFill>
                  <a:srgbClr val="FFFFFF"/>
                </a:solidFill>
              </a:rPr>
              <a:t>• Vulnerabilidad en Calificaciones: </a:t>
            </a:r>
            <a:r>
              <a:rPr b="0">
                <a:solidFill>
                  <a:srgbClr val="B4C3D7"/>
                </a:solidFill>
              </a:rPr>
              <a:t>Cálculos manuales propensos a errores aritméticos, tachaduras o manipulación no autorizada.</a:t>
            </a:r>
          </a:p>
          <a:p>
            <a:pPr>
              <a:spcAft>
                <a:spcPts val="700"/>
              </a:spcAft>
              <a:defRPr sz="1200">
                <a:latin typeface="Calibri"/>
              </a:defRPr>
            </a:pPr>
            <a:r>
              <a:rPr b="1">
                <a:solidFill>
                  <a:srgbClr val="FFFFFF"/>
                </a:solidFill>
              </a:rPr>
              <a:t>• Sobrecarga Administrativa: </a:t>
            </a:r>
            <a:r>
              <a:rPr b="0">
                <a:solidFill>
                  <a:srgbClr val="B4C3D7"/>
                </a:solidFill>
              </a:rPr>
              <a:t>Docentes y directivos invertían días enteros digitando boletines y consolidados a mano.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463040"/>
            <a:ext cx="5212080" cy="457200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 bIns="182880"/>
          <a:lstStyle/>
          <a:p>
            <a:pPr algn="ctr">
              <a:spcAft>
                <a:spcPts val="1000"/>
              </a:spcAft>
              <a:defRPr sz="1500" b="1">
                <a:solidFill>
                  <a:srgbClr val="48CAE4"/>
                </a:solidFill>
                <a:latin typeface="Calibri"/>
              </a:defRPr>
            </a:pPr>
            <a:r>
              <a:t>Transformación y Valor Agregado ACADEMIX</a:t>
            </a:r>
          </a:p>
          <a:p>
            <a:pPr>
              <a:spcAft>
                <a:spcPts val="700"/>
              </a:spcAft>
              <a:defRPr sz="1200">
                <a:latin typeface="Calibri"/>
              </a:defRPr>
            </a:pPr>
            <a:r>
              <a:rPr b="1">
                <a:solidFill>
                  <a:srgbClr val="FFFFFF"/>
                </a:solidFill>
              </a:rPr>
              <a:t>• Centralización Digital Total: </a:t>
            </a:r>
            <a:r>
              <a:rPr b="0">
                <a:solidFill>
                  <a:srgbClr val="B4C3D7"/>
                </a:solidFill>
              </a:rPr>
              <a:t>Plataforma única para notas, asistencias, observador del alumno y tareas accesibles en tiempo real.</a:t>
            </a:r>
          </a:p>
          <a:p>
            <a:pPr>
              <a:spcAft>
                <a:spcPts val="700"/>
              </a:spcAft>
              <a:defRPr sz="1200">
                <a:latin typeface="Calibri"/>
              </a:defRPr>
            </a:pPr>
            <a:r>
              <a:rPr b="1">
                <a:solidFill>
                  <a:srgbClr val="FFFFFF"/>
                </a:solidFill>
              </a:rPr>
              <a:t>• Portal de Seguimiento para Padres: </a:t>
            </a:r>
            <a:r>
              <a:rPr b="0">
                <a:solidFill>
                  <a:srgbClr val="B4C3D7"/>
                </a:solidFill>
              </a:rPr>
              <a:t>Los acudientes consultan en vivo el avance académico, asistencia diaria y compromisos de sus hijos.</a:t>
            </a:r>
          </a:p>
          <a:p>
            <a:pPr>
              <a:spcAft>
                <a:spcPts val="700"/>
              </a:spcAft>
              <a:defRPr sz="1200">
                <a:latin typeface="Calibri"/>
              </a:defRPr>
            </a:pPr>
            <a:r>
              <a:rPr b="1">
                <a:solidFill>
                  <a:srgbClr val="FFFFFF"/>
                </a:solidFill>
              </a:rPr>
              <a:t>• Blindaje Matemático Automático: </a:t>
            </a:r>
            <a:r>
              <a:rPr b="0">
                <a:solidFill>
                  <a:srgbClr val="B4C3D7"/>
                </a:solidFill>
              </a:rPr>
              <a:t>Cálculo instantáneo con ponderaciones por periodo, escalas del Decreto 1290 y cierre de actas.</a:t>
            </a:r>
          </a:p>
          <a:p>
            <a:pPr>
              <a:spcAft>
                <a:spcPts val="700"/>
              </a:spcAft>
              <a:defRPr sz="1200">
                <a:latin typeface="Calibri"/>
              </a:defRPr>
            </a:pPr>
            <a:r>
              <a:rPr b="1">
                <a:solidFill>
                  <a:srgbClr val="FFFFFF"/>
                </a:solidFill>
              </a:rPr>
              <a:t>• Optimización Institucional del 80%: </a:t>
            </a:r>
            <a:r>
              <a:rPr b="0">
                <a:solidFill>
                  <a:srgbClr val="B4C3D7"/>
                </a:solidFill>
              </a:rPr>
              <a:t>Generación inmediata de boletines PDF oficiales, reportes consolidados y auditoría completa de cada cambio.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9728" cy="868680"/>
          </a:xfrm>
          <a:prstGeom prst="rect">
            <a:avLst/>
          </a:prstGeom>
          <a:solidFill>
            <a:srgbClr val="0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32004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8CAE4"/>
                </a:solidFill>
                <a:latin typeface="Calibri"/>
              </a:defRPr>
            </a:pPr>
            <a:r>
              <a:t>TEMA 1 • FUNDAMENTOS Y DESPLIEGUE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594360"/>
            <a:ext cx="7772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FFFFFF"/>
                </a:solidFill>
                <a:latin typeface="Calibri"/>
              </a:defRPr>
            </a:pPr>
            <a:r>
              <a:t>1. Qué es ACADEMIX y Entorno de Despliegue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61120" y="457200"/>
            <a:ext cx="2468880" cy="640080"/>
          </a:xfrm>
          <a:prstGeom prst="roundRect">
            <a:avLst/>
          </a:prstGeom>
          <a:solidFill>
            <a:srgbClr val="1C2541"/>
          </a:solidFill>
          <a:ln w="15240"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00A8FF"/>
                </a:solidFill>
                <a:latin typeface="Calibri"/>
              </a:defRPr>
            </a:pPr>
            <a:r>
              <a:t>PONENTE ASIGNADA</a:t>
            </a:r>
          </a:p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Yurleidis Londoño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2D41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35508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4C3D7"/>
                </a:solidFill>
                <a:latin typeface="Calibri"/>
              </a:defRPr>
            </a:pPr>
            <a:r>
              <a:t>ACADEMIX | Plataforma de Gestión Escolar Integral • SENA Ficha 3173430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35508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00A8FF"/>
                </a:solidFill>
                <a:latin typeface="Calibri"/>
              </a:defRPr>
            </a:pPr>
            <a:r>
              <a:t>4 / 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463040"/>
            <a:ext cx="3429000" cy="457200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 bIns="182880"/>
          <a:lstStyle/>
          <a:p>
            <a:pPr algn="ctr">
              <a:spcAft>
                <a:spcPts val="1000"/>
              </a:spcAft>
              <a:defRPr sz="1500" b="1">
                <a:solidFill>
                  <a:srgbClr val="48CAE4"/>
                </a:solidFill>
                <a:latin typeface="Calibri"/>
              </a:defRPr>
            </a:pPr>
            <a:r>
              <a:t>¿Qué es ACADEMIX?</a:t>
            </a:r>
          </a:p>
          <a:p>
            <a:pPr>
              <a:spcAft>
                <a:spcPts val="700"/>
              </a:spcAft>
              <a:defRPr sz="1200">
                <a:latin typeface="Calibri"/>
              </a:defRPr>
            </a:pPr>
            <a:r>
              <a:rPr b="1">
                <a:solidFill>
                  <a:srgbClr val="FFFFFF"/>
                </a:solidFill>
              </a:rPr>
              <a:t>• Definición Central: </a:t>
            </a:r>
            <a:r>
              <a:rPr b="0">
                <a:solidFill>
                  <a:srgbClr val="B4C3D7"/>
                </a:solidFill>
              </a:rPr>
              <a:t>Plataforma web integral orientada a la gestión académica, pedagógica y de convivencia para colegios.</a:t>
            </a:r>
          </a:p>
          <a:p>
            <a:pPr>
              <a:spcAft>
                <a:spcPts val="700"/>
              </a:spcAft>
              <a:defRPr sz="1200">
                <a:latin typeface="Calibri"/>
              </a:defRPr>
            </a:pPr>
            <a:r>
              <a:rPr b="1">
                <a:solidFill>
                  <a:srgbClr val="FFFFFF"/>
                </a:solidFill>
              </a:rPr>
              <a:t>• Propósito Clave: </a:t>
            </a:r>
            <a:r>
              <a:rPr b="0">
                <a:solidFill>
                  <a:srgbClr val="B4C3D7"/>
                </a:solidFill>
              </a:rPr>
              <a:t>Democratizar la tecnología educativa con altos estándares de seguridad y cero costo de licencias privativas.</a:t>
            </a:r>
          </a:p>
          <a:p>
            <a:pPr>
              <a:spcAft>
                <a:spcPts val="700"/>
              </a:spcAft>
              <a:defRPr sz="1200">
                <a:latin typeface="Calibri"/>
              </a:defRPr>
            </a:pPr>
            <a:r>
              <a:rPr b="1">
                <a:solidFill>
                  <a:srgbClr val="FFFFFF"/>
                </a:solidFill>
              </a:rPr>
              <a:t>• Alcance Multi-Rol: </a:t>
            </a:r>
            <a:r>
              <a:rPr b="0">
                <a:solidFill>
                  <a:srgbClr val="B4C3D7"/>
                </a:solidFill>
              </a:rPr>
              <a:t>Conecta en un solo ecosistema a Directivos, Rectores, Coordinadores, Docentes, Estudiantes y Acudientes.</a:t>
            </a:r>
          </a:p>
          <a:p>
            <a:pPr>
              <a:spcAft>
                <a:spcPts val="700"/>
              </a:spcAft>
              <a:defRPr sz="1200">
                <a:latin typeface="Calibri"/>
              </a:defRPr>
            </a:pPr>
            <a:r>
              <a:rPr b="1">
                <a:solidFill>
                  <a:srgbClr val="FFFFFF"/>
                </a:solidFill>
              </a:rPr>
              <a:t>• Cumplimiento Normativo: </a:t>
            </a:r>
            <a:r>
              <a:rPr b="0">
                <a:solidFill>
                  <a:srgbClr val="B4C3D7"/>
                </a:solidFill>
              </a:rPr>
              <a:t>Alineado con el Decreto 1290 de 2009 (Evaluación escolar en Colombia) y Ley 1581 de 2012.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463040"/>
            <a:ext cx="3429000" cy="457200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48C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 bIns="182880"/>
          <a:lstStyle/>
          <a:p>
            <a:pPr algn="ctr">
              <a:spcAft>
                <a:spcPts val="1000"/>
              </a:spcAft>
              <a:defRPr sz="1500" b="1">
                <a:solidFill>
                  <a:srgbClr val="48CAE4"/>
                </a:solidFill>
                <a:latin typeface="Calibri"/>
              </a:defRPr>
            </a:pPr>
            <a:r>
              <a:t>¿Qué se Utiliza? (Stack)</a:t>
            </a:r>
          </a:p>
          <a:p>
            <a:pPr>
              <a:spcAft>
                <a:spcPts val="700"/>
              </a:spcAft>
              <a:defRPr sz="1200">
                <a:latin typeface="Calibri"/>
              </a:defRPr>
            </a:pPr>
            <a:r>
              <a:rPr b="1">
                <a:solidFill>
                  <a:srgbClr val="FFFFFF"/>
                </a:solidFill>
              </a:rPr>
              <a:t>• Backend Robusto: </a:t>
            </a:r>
            <a:r>
              <a:rPr b="0">
                <a:solidFill>
                  <a:srgbClr val="B4C3D7"/>
                </a:solidFill>
              </a:rPr>
              <a:t>Python 3.10+ y Django Web Framework (ORM seguro, arquitectura escalable y baterías incluidas).</a:t>
            </a:r>
          </a:p>
          <a:p>
            <a:pPr>
              <a:spcAft>
                <a:spcPts val="700"/>
              </a:spcAft>
              <a:defRPr sz="1200">
                <a:latin typeface="Calibri"/>
              </a:defRPr>
            </a:pPr>
            <a:r>
              <a:rPr b="1">
                <a:solidFill>
                  <a:srgbClr val="FFFFFF"/>
                </a:solidFill>
              </a:rPr>
              <a:t>• Base de Datos: </a:t>
            </a:r>
            <a:r>
              <a:rPr b="0">
                <a:solidFill>
                  <a:srgbClr val="B4C3D7"/>
                </a:solidFill>
              </a:rPr>
              <a:t>PostgreSQL (motor relacional empresarial con soporte transaccional ACID y alta concurrencia).</a:t>
            </a:r>
          </a:p>
          <a:p>
            <a:pPr>
              <a:spcAft>
                <a:spcPts val="700"/>
              </a:spcAft>
              <a:defRPr sz="1200">
                <a:latin typeface="Calibri"/>
              </a:defRPr>
            </a:pPr>
            <a:r>
              <a:rPr b="1">
                <a:solidFill>
                  <a:srgbClr val="FFFFFF"/>
                </a:solidFill>
              </a:rPr>
              <a:t>• Servidor de Producción: </a:t>
            </a:r>
            <a:r>
              <a:rPr b="0">
                <a:solidFill>
                  <a:srgbClr val="B4C3D7"/>
                </a:solidFill>
              </a:rPr>
              <a:t>Nginx como Reverse Proxy (SSL/TLS, compresión Gzip) + Gunicorn como servidor WSGI multi-worker.</a:t>
            </a:r>
          </a:p>
          <a:p>
            <a:pPr>
              <a:spcAft>
                <a:spcPts val="700"/>
              </a:spcAft>
              <a:defRPr sz="1200">
                <a:latin typeface="Calibri"/>
              </a:defRPr>
            </a:pPr>
            <a:r>
              <a:rPr b="1">
                <a:solidFill>
                  <a:srgbClr val="FFFFFF"/>
                </a:solidFill>
              </a:rPr>
              <a:t>• Frontend Moderno: </a:t>
            </a:r>
            <a:r>
              <a:rPr b="0">
                <a:solidFill>
                  <a:srgbClr val="B4C3D7"/>
                </a:solidFill>
              </a:rPr>
              <a:t>HTML5 semántico, CSS3 modular responsive y JavaScript moderno para interacción fluida.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463040"/>
            <a:ext cx="3429000" cy="457200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 bIns="182880"/>
          <a:lstStyle/>
          <a:p>
            <a:pPr algn="ctr">
              <a:spcAft>
                <a:spcPts val="1000"/>
              </a:spcAft>
              <a:defRPr sz="1500" b="1">
                <a:solidFill>
                  <a:srgbClr val="48CAE4"/>
                </a:solidFill>
                <a:latin typeface="Calibri"/>
              </a:defRPr>
            </a:pPr>
            <a:r>
              <a:t>Entornos de Despliegue</a:t>
            </a:r>
          </a:p>
          <a:p>
            <a:pPr>
              <a:spcAft>
                <a:spcPts val="700"/>
              </a:spcAft>
              <a:defRPr sz="1200">
                <a:latin typeface="Calibri"/>
              </a:defRPr>
            </a:pPr>
            <a:r>
              <a:rPr b="1">
                <a:solidFill>
                  <a:srgbClr val="FFFFFF"/>
                </a:solidFill>
              </a:rPr>
              <a:t>• Red Local Institucional (LAN): </a:t>
            </a:r>
            <a:r>
              <a:rPr b="0">
                <a:solidFill>
                  <a:srgbClr val="B4C3D7"/>
                </a:solidFill>
              </a:rPr>
              <a:t>Despliegue en servidor físico dentro del colegio. Ideal para sedes con Internet intermitente, funcionando 100% offline.</a:t>
            </a:r>
          </a:p>
          <a:p>
            <a:pPr>
              <a:spcAft>
                <a:spcPts val="700"/>
              </a:spcAft>
              <a:defRPr sz="1200">
                <a:latin typeface="Calibri"/>
              </a:defRPr>
            </a:pPr>
            <a:r>
              <a:rPr b="1">
                <a:solidFill>
                  <a:srgbClr val="FFFFFF"/>
                </a:solidFill>
              </a:rPr>
              <a:t>• Acceso Wi-Fi Escolar: </a:t>
            </a:r>
            <a:r>
              <a:rPr b="0">
                <a:solidFill>
                  <a:srgbClr val="B4C3D7"/>
                </a:solidFill>
              </a:rPr>
              <a:t>Docentes y directivos acceden desde laptops y tablets conectadas a la red inalámbrica de la institución.</a:t>
            </a:r>
          </a:p>
          <a:p>
            <a:pPr>
              <a:spcAft>
                <a:spcPts val="700"/>
              </a:spcAft>
              <a:defRPr sz="1200">
                <a:latin typeface="Calibri"/>
              </a:defRPr>
            </a:pPr>
            <a:r>
              <a:rPr b="1">
                <a:solidFill>
                  <a:srgbClr val="FFFFFF"/>
                </a:solidFill>
              </a:rPr>
              <a:t>• Nube / VPS (Ubuntu Server): </a:t>
            </a:r>
            <a:r>
              <a:rPr b="0">
                <a:solidFill>
                  <a:srgbClr val="B4C3D7"/>
                </a:solidFill>
              </a:rPr>
              <a:t>Despliegue en servidor virtual (DigitalOcean, AWS o Linode) permitiendo acceso 24/7 a padres desde cualquier lugar.</a:t>
            </a:r>
          </a:p>
          <a:p>
            <a:pPr>
              <a:spcAft>
                <a:spcPts val="700"/>
              </a:spcAft>
              <a:defRPr sz="1200">
                <a:latin typeface="Calibri"/>
              </a:defRPr>
            </a:pPr>
            <a:r>
              <a:rPr b="1">
                <a:solidFill>
                  <a:srgbClr val="FFFFFF"/>
                </a:solidFill>
              </a:rPr>
              <a:t>• Portabilidad Docker/Venv: </a:t>
            </a:r>
            <a:r>
              <a:rPr b="0">
                <a:solidFill>
                  <a:srgbClr val="B4C3D7"/>
                </a:solidFill>
              </a:rPr>
              <a:t>Contenedores y entornos virtuales aislados que garantizan ejecución idéntica en cualquier servidor.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9728" cy="868680"/>
          </a:xfrm>
          <a:prstGeom prst="rect">
            <a:avLst/>
          </a:prstGeom>
          <a:solidFill>
            <a:srgbClr val="0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32004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8CAE4"/>
                </a:solidFill>
                <a:latin typeface="Calibri"/>
              </a:defRPr>
            </a:pPr>
            <a:r>
              <a:t>TEMA 2 • PROCESO TÉCNICO DE INSTALACIÓN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594360"/>
            <a:ext cx="7772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FFFFFF"/>
                </a:solidFill>
                <a:latin typeface="Calibri"/>
              </a:defRPr>
            </a:pPr>
            <a:r>
              <a:t>2. Pasos de Despliegue e Instalación Técnica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61120" y="457200"/>
            <a:ext cx="2468880" cy="640080"/>
          </a:xfrm>
          <a:prstGeom prst="roundRect">
            <a:avLst/>
          </a:prstGeom>
          <a:solidFill>
            <a:srgbClr val="1C2541"/>
          </a:solidFill>
          <a:ln w="15240"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00A8FF"/>
                </a:solidFill>
                <a:latin typeface="Calibri"/>
              </a:defRPr>
            </a:pPr>
            <a:r>
              <a:t>PONENTE ASIGNADA</a:t>
            </a:r>
          </a:p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Yurleidis Londoño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2D41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35508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4C3D7"/>
                </a:solidFill>
                <a:latin typeface="Calibri"/>
              </a:defRPr>
            </a:pPr>
            <a:r>
              <a:t>ACADEMIX | Plataforma de Gestión Escolar Integral • SENA Ficha 3173430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35508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00A8FF"/>
                </a:solidFill>
                <a:latin typeface="Calibri"/>
              </a:defRPr>
            </a:pPr>
            <a:r>
              <a:t>5 / 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463040"/>
            <a:ext cx="5212080" cy="457200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 bIns="182880"/>
          <a:lstStyle/>
          <a:p>
            <a:pPr algn="ctr">
              <a:spcAft>
                <a:spcPts val="1000"/>
              </a:spcAft>
              <a:defRPr sz="1500" b="1">
                <a:solidFill>
                  <a:srgbClr val="48CAE4"/>
                </a:solidFill>
                <a:latin typeface="Calibri"/>
              </a:defRPr>
            </a:pPr>
            <a:r>
              <a:t>Requisitos y Preparación de Sistema</a:t>
            </a:r>
          </a:p>
          <a:p>
            <a:pPr>
              <a:spcAft>
                <a:spcPts val="700"/>
              </a:spcAft>
              <a:defRPr sz="1200">
                <a:latin typeface="Calibri"/>
              </a:defRPr>
            </a:pPr>
            <a:r>
              <a:rPr b="1">
                <a:solidFill>
                  <a:srgbClr val="FFFFFF"/>
                </a:solidFill>
              </a:rPr>
              <a:t>• Hardware Mínimo: </a:t>
            </a:r>
            <a:r>
              <a:rPr b="0">
                <a:solidFill>
                  <a:srgbClr val="B4C3D7"/>
                </a:solidFill>
              </a:rPr>
              <a:t>2 vCPU / Procesador x64, 2 GB Memoria RAM, 20 GB Almacenamiento SSD.</a:t>
            </a:r>
          </a:p>
          <a:p>
            <a:pPr>
              <a:spcAft>
                <a:spcPts val="700"/>
              </a:spcAft>
              <a:defRPr sz="1200">
                <a:latin typeface="Calibri"/>
              </a:defRPr>
            </a:pPr>
            <a:r>
              <a:rPr b="1">
                <a:solidFill>
                  <a:srgbClr val="FFFFFF"/>
                </a:solidFill>
              </a:rPr>
              <a:t>• Hardware Recomendado: </a:t>
            </a:r>
            <a:r>
              <a:rPr b="0">
                <a:solidFill>
                  <a:srgbClr val="B4C3D7"/>
                </a:solidFill>
              </a:rPr>
              <a:t>4 vCPU, 4 GB RAM, 50 GB Almacenamiento NVMe para más de 1,500 estudiantes activos.</a:t>
            </a:r>
          </a:p>
          <a:p>
            <a:pPr>
              <a:spcAft>
                <a:spcPts val="700"/>
              </a:spcAft>
              <a:defRPr sz="1200">
                <a:latin typeface="Calibri"/>
              </a:defRPr>
            </a:pPr>
            <a:r>
              <a:rPr b="1">
                <a:solidFill>
                  <a:srgbClr val="FFFFFF"/>
                </a:solidFill>
              </a:rPr>
              <a:t>• Sistema Operativo: </a:t>
            </a:r>
            <a:r>
              <a:rPr b="0">
                <a:solidFill>
                  <a:srgbClr val="B4C3D7"/>
                </a:solidFill>
              </a:rPr>
              <a:t>Ubuntu Server 22.04 LTS o Debian 12 con soporte extendido de parches de seguridad.</a:t>
            </a:r>
          </a:p>
          <a:p>
            <a:pPr>
              <a:spcAft>
                <a:spcPts val="700"/>
              </a:spcAft>
              <a:defRPr sz="1200">
                <a:latin typeface="Calibri"/>
              </a:defRPr>
            </a:pPr>
            <a:r>
              <a:rPr b="1">
                <a:solidFill>
                  <a:srgbClr val="FFFFFF"/>
                </a:solidFill>
              </a:rPr>
              <a:t>• Fase 1 - SO y Librerías: </a:t>
            </a:r>
            <a:r>
              <a:rPr b="0">
                <a:solidFill>
                  <a:srgbClr val="B4C3D7"/>
                </a:solidFill>
              </a:rPr>
              <a:t>Actualización con `apt update &amp;&amp; apt upgrade -y`. Instalación de `python3-venv`, `python3-dev`, `libpq-dev`, `git` y `build-essential`.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463040"/>
            <a:ext cx="5212080" cy="457200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48C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 bIns="182880"/>
          <a:lstStyle/>
          <a:p>
            <a:pPr algn="ctr">
              <a:spcAft>
                <a:spcPts val="1000"/>
              </a:spcAft>
              <a:defRPr sz="1500" b="1">
                <a:solidFill>
                  <a:srgbClr val="48CAE4"/>
                </a:solidFill>
                <a:latin typeface="Calibri"/>
              </a:defRPr>
            </a:pPr>
            <a:r>
              <a:t>Fases de Configuración y Producción</a:t>
            </a:r>
          </a:p>
          <a:p>
            <a:pPr>
              <a:spcAft>
                <a:spcPts val="700"/>
              </a:spcAft>
              <a:defRPr sz="1200">
                <a:latin typeface="Calibri"/>
              </a:defRPr>
            </a:pPr>
            <a:r>
              <a:rPr b="1">
                <a:solidFill>
                  <a:srgbClr val="FFFFFF"/>
                </a:solidFill>
              </a:rPr>
              <a:t>• Fase 2 - Base de Datos: </a:t>
            </a:r>
            <a:r>
              <a:rPr b="0">
                <a:solidFill>
                  <a:srgbClr val="B4C3D7"/>
                </a:solidFill>
              </a:rPr>
              <a:t>Creación de base de datos dedicada `academix_db` y usuario `academix_user` en PostgreSQL con contraseña robusta y privilegios restringidos.</a:t>
            </a:r>
          </a:p>
          <a:p>
            <a:pPr>
              <a:spcAft>
                <a:spcPts val="700"/>
              </a:spcAft>
              <a:defRPr sz="1200">
                <a:latin typeface="Calibri"/>
              </a:defRPr>
            </a:pPr>
            <a:r>
              <a:rPr b="1">
                <a:solidFill>
                  <a:srgbClr val="FFFFFF"/>
                </a:solidFill>
              </a:rPr>
              <a:t>• Fase 3 - Repositorio y Venv: </a:t>
            </a:r>
            <a:r>
              <a:rPr b="0">
                <a:solidFill>
                  <a:srgbClr val="B4C3D7"/>
                </a:solidFill>
              </a:rPr>
              <a:t>Clonación desde repositorio Git institucional, creación del entorno virtual aislado `python3 -m venv venv` e instalación vía `pip install -r requirements.txt`.</a:t>
            </a:r>
          </a:p>
          <a:p>
            <a:pPr>
              <a:spcAft>
                <a:spcPts val="700"/>
              </a:spcAft>
              <a:defRPr sz="1200">
                <a:latin typeface="Calibri"/>
              </a:defRPr>
            </a:pPr>
            <a:r>
              <a:rPr b="1">
                <a:solidFill>
                  <a:srgbClr val="FFFFFF"/>
                </a:solidFill>
              </a:rPr>
              <a:t>• Fase 4 - Migraciones y Estáticos: </a:t>
            </a:r>
            <a:r>
              <a:rPr b="0">
                <a:solidFill>
                  <a:srgbClr val="B4C3D7"/>
                </a:solidFill>
              </a:rPr>
              <a:t>Ejecución de `python manage.py migrate` (38 migraciones del esquema relacional), `collectstatic` para compilar activos y creación de superusuario rector.</a:t>
            </a:r>
          </a:p>
          <a:p>
            <a:pPr>
              <a:spcAft>
                <a:spcPts val="700"/>
              </a:spcAft>
              <a:defRPr sz="1200">
                <a:latin typeface="Calibri"/>
              </a:defRPr>
            </a:pPr>
            <a:r>
              <a:rPr b="1">
                <a:solidFill>
                  <a:srgbClr val="FFFFFF"/>
                </a:solidFill>
              </a:rPr>
              <a:t>• Fase 5 - Daemon WSGI y Nginx: </a:t>
            </a:r>
            <a:r>
              <a:rPr b="0">
                <a:solidFill>
                  <a:srgbClr val="B4C3D7"/>
                </a:solidFill>
              </a:rPr>
              <a:t>Configuración del servicio Systemd `academix.service` ejecutando Gunicorn con 3 workers, y proxy inverso Nginx con enrutamiento de socket Unix y SSL.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9728" cy="868680"/>
          </a:xfrm>
          <a:prstGeom prst="rect">
            <a:avLst/>
          </a:prstGeom>
          <a:solidFill>
            <a:srgbClr val="0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32004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8CAE4"/>
                </a:solidFill>
                <a:latin typeface="Calibri"/>
              </a:defRPr>
            </a:pPr>
            <a:r>
              <a:t>TEMA 3 • BASE DE DATOS Y CONTINUIDAD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594360"/>
            <a:ext cx="7772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FFFFFF"/>
                </a:solidFill>
                <a:latin typeface="Calibri"/>
              </a:defRPr>
            </a:pPr>
            <a:r>
              <a:t>3. Respaldo, Recuperación y Observabilidad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61120" y="457200"/>
            <a:ext cx="2468880" cy="640080"/>
          </a:xfrm>
          <a:prstGeom prst="roundRect">
            <a:avLst/>
          </a:prstGeom>
          <a:solidFill>
            <a:srgbClr val="1C2541"/>
          </a:solidFill>
          <a:ln w="15240"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00A8FF"/>
                </a:solidFill>
                <a:latin typeface="Calibri"/>
              </a:defRPr>
            </a:pPr>
            <a:r>
              <a:t>PONENTE ASIGNADA</a:t>
            </a:r>
          </a:p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Nurys González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2D41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35508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4C3D7"/>
                </a:solidFill>
                <a:latin typeface="Calibri"/>
              </a:defRPr>
            </a:pPr>
            <a:r>
              <a:t>ACADEMIX | Plataforma de Gestión Escolar Integral • SENA Ficha 3173430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35508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00A8FF"/>
                </a:solidFill>
                <a:latin typeface="Calibri"/>
              </a:defRPr>
            </a:pPr>
            <a:r>
              <a:t>6 / 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463040"/>
            <a:ext cx="5212080" cy="457200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 bIns="182880"/>
          <a:lstStyle/>
          <a:p>
            <a:pPr algn="ctr">
              <a:spcAft>
                <a:spcPts val="1000"/>
              </a:spcAft>
              <a:defRPr sz="1500" b="1">
                <a:solidFill>
                  <a:srgbClr val="48CAE4"/>
                </a:solidFill>
                <a:latin typeface="Calibri"/>
              </a:defRPr>
            </a:pPr>
            <a:r>
              <a:t>Estrategia de Respaldos (3-2-1)</a:t>
            </a:r>
          </a:p>
          <a:p>
            <a:pPr>
              <a:spcAft>
                <a:spcPts val="700"/>
              </a:spcAft>
              <a:defRPr sz="1200">
                <a:latin typeface="Calibri"/>
              </a:defRPr>
            </a:pPr>
            <a:r>
              <a:rPr b="1">
                <a:solidFill>
                  <a:srgbClr val="FFFFFF"/>
                </a:solidFill>
              </a:rPr>
              <a:t>• Regla Estratégica 3-2-1: </a:t>
            </a:r>
            <a:r>
              <a:rPr b="0">
                <a:solidFill>
                  <a:srgbClr val="B4C3D7"/>
                </a:solidFill>
              </a:rPr>
              <a:t>3 copias de seguridad de las notas y matrículas, en 2 medios distintos (disco local + almacenamiento externo), y 1 copia fuera de la institución (nube segura / NAS remoto).</a:t>
            </a:r>
          </a:p>
          <a:p>
            <a:pPr>
              <a:spcAft>
                <a:spcPts val="700"/>
              </a:spcAft>
              <a:defRPr sz="1200">
                <a:latin typeface="Calibri"/>
              </a:defRPr>
            </a:pPr>
            <a:r>
              <a:rPr b="1">
                <a:solidFill>
                  <a:srgbClr val="FFFFFF"/>
                </a:solidFill>
              </a:rPr>
              <a:t>• Respaldo Total (Full): </a:t>
            </a:r>
            <a:r>
              <a:rPr b="0">
                <a:solidFill>
                  <a:srgbClr val="B4C3D7"/>
                </a:solidFill>
              </a:rPr>
              <a:t>Exportación binaria comprimida diaria ejecutada a las 02:00 AM mediante la utilidad `pg_dump -Fc` con rotación automatizada de 30 días.</a:t>
            </a:r>
          </a:p>
          <a:p>
            <a:pPr>
              <a:spcAft>
                <a:spcPts val="700"/>
              </a:spcAft>
              <a:defRPr sz="1200">
                <a:latin typeface="Calibri"/>
              </a:defRPr>
            </a:pPr>
            <a:r>
              <a:rPr b="1">
                <a:solidFill>
                  <a:srgbClr val="FFFFFF"/>
                </a:solidFill>
              </a:rPr>
              <a:t>• Respaldo Diferencial / WAL: </a:t>
            </a:r>
            <a:r>
              <a:rPr b="0">
                <a:solidFill>
                  <a:srgbClr val="B4C3D7"/>
                </a:solidFill>
              </a:rPr>
              <a:t>Archivado de registros de transacciones Write-Ahead Logging (WAL) para recuperación granular ante fallos.</a:t>
            </a:r>
          </a:p>
          <a:p>
            <a:pPr>
              <a:spcAft>
                <a:spcPts val="700"/>
              </a:spcAft>
              <a:defRPr sz="1200">
                <a:latin typeface="Calibri"/>
              </a:defRPr>
            </a:pPr>
            <a:r>
              <a:rPr b="1">
                <a:solidFill>
                  <a:srgbClr val="FFFFFF"/>
                </a:solidFill>
              </a:rPr>
              <a:t>• Respaldo de Evidencias (Media): </a:t>
            </a:r>
            <a:r>
              <a:rPr b="0">
                <a:solidFill>
                  <a:srgbClr val="B4C3D7"/>
                </a:solidFill>
              </a:rPr>
              <a:t>Sincronización automatizada con `rsync` de la carpeta `media/` que contiene archivos adjuntos de tareas y reportes del observador.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463040"/>
            <a:ext cx="5212080" cy="457200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 bIns="182880"/>
          <a:lstStyle/>
          <a:p>
            <a:pPr algn="ctr">
              <a:spcAft>
                <a:spcPts val="1000"/>
              </a:spcAft>
              <a:defRPr sz="1500" b="1">
                <a:solidFill>
                  <a:srgbClr val="48CAE4"/>
                </a:solidFill>
                <a:latin typeface="Calibri"/>
              </a:defRPr>
            </a:pPr>
            <a:r>
              <a:t>Métricas de Continuidad y Observabilidad</a:t>
            </a:r>
          </a:p>
          <a:p>
            <a:pPr>
              <a:spcAft>
                <a:spcPts val="700"/>
              </a:spcAft>
              <a:defRPr sz="1200">
                <a:latin typeface="Calibri"/>
              </a:defRPr>
            </a:pPr>
            <a:r>
              <a:rPr b="1">
                <a:solidFill>
                  <a:srgbClr val="FFFFFF"/>
                </a:solidFill>
              </a:rPr>
              <a:t>• Métrica RPO (Objetivo de Punto): </a:t>
            </a:r>
            <a:r>
              <a:rPr b="0">
                <a:solidFill>
                  <a:srgbClr val="B4C3D7"/>
                </a:solidFill>
              </a:rPr>
              <a:t>RPO &lt; 24 Horas: Pérdida máxima admisible de datos garantizada en caso de caída total del hardware.</a:t>
            </a:r>
          </a:p>
          <a:p>
            <a:pPr>
              <a:spcAft>
                <a:spcPts val="700"/>
              </a:spcAft>
              <a:defRPr sz="1200">
                <a:latin typeface="Calibri"/>
              </a:defRPr>
            </a:pPr>
            <a:r>
              <a:rPr b="1">
                <a:solidFill>
                  <a:srgbClr val="FFFFFF"/>
                </a:solidFill>
              </a:rPr>
              <a:t>• Métrica RTO (Objetivo de Tiempo): </a:t>
            </a:r>
            <a:r>
              <a:rPr b="0">
                <a:solidFill>
                  <a:srgbClr val="B4C3D7"/>
                </a:solidFill>
              </a:rPr>
              <a:t>RTO &lt; 2 Horas: Tiempo máximo para restablecer la operación institucional completa ante cualquier siniestro.</a:t>
            </a:r>
          </a:p>
          <a:p>
            <a:pPr>
              <a:spcAft>
                <a:spcPts val="700"/>
              </a:spcAft>
              <a:defRPr sz="1200">
                <a:latin typeface="Calibri"/>
              </a:defRPr>
            </a:pPr>
            <a:r>
              <a:rPr b="1">
                <a:solidFill>
                  <a:srgbClr val="FFFFFF"/>
                </a:solidFill>
              </a:rPr>
              <a:t>• Restauración y Rollback: </a:t>
            </a:r>
            <a:r>
              <a:rPr b="0">
                <a:solidFill>
                  <a:srgbClr val="B4C3D7"/>
                </a:solidFill>
              </a:rPr>
              <a:t>Procedimiento de recuperación validado con `pg_restore --clean --if-exists`, permitiendo volver a un estado estable sin corromper la integridad.</a:t>
            </a:r>
          </a:p>
          <a:p>
            <a:pPr>
              <a:spcAft>
                <a:spcPts val="700"/>
              </a:spcAft>
              <a:defRPr sz="1200">
                <a:latin typeface="Calibri"/>
              </a:defRPr>
            </a:pPr>
            <a:r>
              <a:rPr b="1">
                <a:solidFill>
                  <a:srgbClr val="FFFFFF"/>
                </a:solidFill>
              </a:rPr>
              <a:t>• Observabilidad y Auditoría: </a:t>
            </a:r>
            <a:r>
              <a:rPr b="0">
                <a:solidFill>
                  <a:srgbClr val="B4C3D7"/>
                </a:solidFill>
              </a:rPr>
              <a:t>Monitoreo permanente de logs de Nginx, bitácora de errores de Gunicorn y registro inmutable `AuditLog` en base de datos para todas las operaciones críticas.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9728" cy="868680"/>
          </a:xfrm>
          <a:prstGeom prst="rect">
            <a:avLst/>
          </a:prstGeom>
          <a:solidFill>
            <a:srgbClr val="0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32004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8CAE4"/>
                </a:solidFill>
                <a:latin typeface="Calibri"/>
              </a:defRPr>
            </a:pPr>
            <a:r>
              <a:t>TEMA 4 • PATRÓN MVT Y CONTROL DE ACCESO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594360"/>
            <a:ext cx="7772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FFFFFF"/>
                </a:solidFill>
                <a:latin typeface="Calibri"/>
              </a:defRPr>
            </a:pPr>
            <a:r>
              <a:t>4. Arquitectura y Aseguramiento Institucional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61120" y="457200"/>
            <a:ext cx="2468880" cy="640080"/>
          </a:xfrm>
          <a:prstGeom prst="roundRect">
            <a:avLst/>
          </a:prstGeom>
          <a:solidFill>
            <a:srgbClr val="1C2541"/>
          </a:solidFill>
          <a:ln w="15240"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00A8FF"/>
                </a:solidFill>
                <a:latin typeface="Calibri"/>
              </a:defRPr>
            </a:pPr>
            <a:r>
              <a:t>PONENTE ASIGNADA</a:t>
            </a:r>
          </a:p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Nurys González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2D41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35508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4C3D7"/>
                </a:solidFill>
                <a:latin typeface="Calibri"/>
              </a:defRPr>
            </a:pPr>
            <a:r>
              <a:t>ACADEMIX | Plataforma de Gestión Escolar Integral • SENA Ficha 3173430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35508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00A8FF"/>
                </a:solidFill>
                <a:latin typeface="Calibri"/>
              </a:defRPr>
            </a:pPr>
            <a:r>
              <a:t>7 / 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463040"/>
            <a:ext cx="5212080" cy="457200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 bIns="182880"/>
          <a:lstStyle/>
          <a:p>
            <a:pPr algn="ctr">
              <a:spcAft>
                <a:spcPts val="1000"/>
              </a:spcAft>
              <a:defRPr sz="1500" b="1">
                <a:solidFill>
                  <a:srgbClr val="48CAE4"/>
                </a:solidFill>
                <a:latin typeface="Calibri"/>
              </a:defRPr>
            </a:pPr>
            <a:r>
              <a:t>Arquitectura MVT y 15 Módulos</a:t>
            </a:r>
          </a:p>
          <a:p>
            <a:pPr>
              <a:spcAft>
                <a:spcPts val="700"/>
              </a:spcAft>
              <a:defRPr sz="1200">
                <a:latin typeface="Calibri"/>
              </a:defRPr>
            </a:pPr>
            <a:r>
              <a:rPr b="1">
                <a:solidFill>
                  <a:srgbClr val="FFFFFF"/>
                </a:solidFill>
              </a:rPr>
              <a:t>• Patrón MVT (Model-View-Template): </a:t>
            </a:r>
            <a:r>
              <a:rPr b="0">
                <a:solidFill>
                  <a:srgbClr val="B4C3D7"/>
                </a:solidFill>
              </a:rPr>
              <a:t>Separación estricta de responsabilidades: Modelos (reglas de datos y relaciones), Vistas (lógica de negocio y transacciones) y Templates (interfaz segura).</a:t>
            </a:r>
          </a:p>
          <a:p>
            <a:pPr>
              <a:spcAft>
                <a:spcPts val="700"/>
              </a:spcAft>
              <a:defRPr sz="1200">
                <a:latin typeface="Calibri"/>
              </a:defRPr>
            </a:pPr>
            <a:r>
              <a:rPr b="1">
                <a:solidFill>
                  <a:srgbClr val="FFFFFF"/>
                </a:solidFill>
              </a:rPr>
              <a:t>• Ecosistema de 15 Aplicaciones: </a:t>
            </a:r>
            <a:r>
              <a:rPr b="0">
                <a:solidFill>
                  <a:srgbClr val="B4C3D7"/>
                </a:solidFill>
              </a:rPr>
              <a:t>Arquitectura modular e independiente: `accounts`, `students`, `teachers`, `courses`, `grades`, `attendance`, `homework`, `behavior`, `communication`, entre otros.</a:t>
            </a:r>
          </a:p>
          <a:p>
            <a:pPr>
              <a:spcAft>
                <a:spcPts val="700"/>
              </a:spcAft>
              <a:defRPr sz="1200">
                <a:latin typeface="Calibri"/>
              </a:defRPr>
            </a:pPr>
            <a:r>
              <a:rPr b="1">
                <a:solidFill>
                  <a:srgbClr val="FFFFFF"/>
                </a:solidFill>
              </a:rPr>
              <a:t>• Integridad Referencial 3FN: </a:t>
            </a:r>
            <a:r>
              <a:rPr b="0">
                <a:solidFill>
                  <a:srgbClr val="B4C3D7"/>
                </a:solidFill>
              </a:rPr>
              <a:t>Esquema de base de datos normalizado en Tercera Forma Normal (3FN), eliminando redundancias y garantizando consistencia en matrículas y calificaciones.</a:t>
            </a:r>
          </a:p>
          <a:p>
            <a:pPr>
              <a:spcAft>
                <a:spcPts val="700"/>
              </a:spcAft>
              <a:defRPr sz="1200">
                <a:latin typeface="Calibri"/>
              </a:defRPr>
            </a:pPr>
            <a:r>
              <a:rPr b="1">
                <a:solidFill>
                  <a:srgbClr val="FFFFFF"/>
                </a:solidFill>
              </a:rPr>
              <a:t>• Validaciones en Capa de Datos: </a:t>
            </a:r>
            <a:r>
              <a:rPr b="0">
                <a:solidFill>
                  <a:srgbClr val="B4C3D7"/>
                </a:solidFill>
              </a:rPr>
              <a:t>Restricciones únicas (`unique_together`) y validadores a nivel de modelo que impiden notas duplicadas o asignaciones incoherentes.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463040"/>
            <a:ext cx="5212080" cy="457200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48C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 bIns="182880"/>
          <a:lstStyle/>
          <a:p>
            <a:pPr algn="ctr">
              <a:spcAft>
                <a:spcPts val="1000"/>
              </a:spcAft>
              <a:defRPr sz="1500" b="1">
                <a:solidFill>
                  <a:srgbClr val="48CAE4"/>
                </a:solidFill>
                <a:latin typeface="Calibri"/>
              </a:defRPr>
            </a:pPr>
            <a:r>
              <a:t>Aseguramiento y Control de Acceso (RBAC)</a:t>
            </a:r>
          </a:p>
          <a:p>
            <a:pPr>
              <a:spcAft>
                <a:spcPts val="700"/>
              </a:spcAft>
              <a:defRPr sz="1200">
                <a:latin typeface="Calibri"/>
              </a:defRPr>
            </a:pPr>
            <a:r>
              <a:rPr b="1">
                <a:solidFill>
                  <a:srgbClr val="FFFFFF"/>
                </a:solidFill>
              </a:rPr>
              <a:t>• Control de Acceso RBAC: </a:t>
            </a:r>
            <a:r>
              <a:rPr b="0">
                <a:solidFill>
                  <a:srgbClr val="B4C3D7"/>
                </a:solidFill>
              </a:rPr>
              <a:t>6 roles jerárquicos estrictamente diferenciados: Administrador, Rector, Coordinador, Docente, Estudiante y Acudiente.</a:t>
            </a:r>
          </a:p>
          <a:p>
            <a:pPr>
              <a:spcAft>
                <a:spcPts val="700"/>
              </a:spcAft>
              <a:defRPr sz="1200">
                <a:latin typeface="Calibri"/>
              </a:defRPr>
            </a:pPr>
            <a:r>
              <a:rPr b="1">
                <a:solidFill>
                  <a:srgbClr val="FFFFFF"/>
                </a:solidFill>
              </a:rPr>
              <a:t>• Principio de Menor Privilegio: </a:t>
            </a:r>
            <a:r>
              <a:rPr b="0">
                <a:solidFill>
                  <a:srgbClr val="B4C3D7"/>
                </a:solidFill>
              </a:rPr>
              <a:t>Cada usuario tiene acceso exclusivamente a los datos que requiere su función institucional. Un docente jamás puede alterar notas de cursos no asignados.</a:t>
            </a:r>
          </a:p>
          <a:p>
            <a:pPr>
              <a:spcAft>
                <a:spcPts val="700"/>
              </a:spcAft>
              <a:defRPr sz="1200">
                <a:latin typeface="Calibri"/>
              </a:defRPr>
            </a:pPr>
            <a:r>
              <a:rPr b="1">
                <a:solidFill>
                  <a:srgbClr val="FFFFFF"/>
                </a:solidFill>
              </a:rPr>
              <a:t>• Protocolo de Evaluación Ciega: </a:t>
            </a:r>
            <a:r>
              <a:rPr b="0">
                <a:solidFill>
                  <a:srgbClr val="B4C3D7"/>
                </a:solidFill>
              </a:rPr>
              <a:t>Los estudiantes y acudientes solo acceden en modo lectura a sus propios registros consolidados sin visibilidad sobre otros alumnos.</a:t>
            </a:r>
          </a:p>
          <a:p>
            <a:pPr>
              <a:spcAft>
                <a:spcPts val="700"/>
              </a:spcAft>
              <a:defRPr sz="1200">
                <a:latin typeface="Calibri"/>
              </a:defRPr>
            </a:pPr>
            <a:r>
              <a:rPr b="1">
                <a:solidFill>
                  <a:srgbClr val="FFFFFF"/>
                </a:solidFill>
              </a:rPr>
              <a:t>• Aislamiento entre Estudiantes: </a:t>
            </a:r>
            <a:r>
              <a:rPr b="0">
                <a:solidFill>
                  <a:srgbClr val="B4C3D7"/>
                </a:solidFill>
              </a:rPr>
              <a:t>Protección estricta de rutas y vistas para impedir acceso horizontal a datos o calificaciones ajenas.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9728" cy="868680"/>
          </a:xfrm>
          <a:prstGeom prst="rect">
            <a:avLst/>
          </a:prstGeom>
          <a:solidFill>
            <a:srgbClr val="0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32004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8CAE4"/>
                </a:solidFill>
                <a:latin typeface="Calibri"/>
              </a:defRPr>
            </a:pPr>
            <a:r>
              <a:t>TEMA 5 • SEGURIDAD OWASP Y CUMPLIMIENTO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594360"/>
            <a:ext cx="7772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FFFFFF"/>
                </a:solidFill>
                <a:latin typeface="Calibri"/>
              </a:defRPr>
            </a:pPr>
            <a:r>
              <a:t>5. Vulnerabilidades y Alternativas de Mitigación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61120" y="457200"/>
            <a:ext cx="2468880" cy="640080"/>
          </a:xfrm>
          <a:prstGeom prst="roundRect">
            <a:avLst/>
          </a:prstGeom>
          <a:solidFill>
            <a:srgbClr val="1C2541"/>
          </a:solidFill>
          <a:ln w="15240"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00A8FF"/>
                </a:solidFill>
                <a:latin typeface="Calibri"/>
              </a:defRPr>
            </a:pPr>
            <a:r>
              <a:t>PONENTE ASIGNADA</a:t>
            </a:r>
          </a:p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Yesireth Cabrera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2D41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35508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4C3D7"/>
                </a:solidFill>
                <a:latin typeface="Calibri"/>
              </a:defRPr>
            </a:pPr>
            <a:r>
              <a:t>ACADEMIX | Plataforma de Gestión Escolar Integral • SENA Ficha 3173430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35508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00A8FF"/>
                </a:solidFill>
                <a:latin typeface="Calibri"/>
              </a:defRPr>
            </a:pPr>
            <a:r>
              <a:t>8 / 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463040"/>
            <a:ext cx="5212080" cy="457200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FFB7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 bIns="182880"/>
          <a:lstStyle/>
          <a:p>
            <a:pPr algn="ctr">
              <a:spcAft>
                <a:spcPts val="1000"/>
              </a:spcAft>
              <a:defRPr sz="1500" b="1">
                <a:solidFill>
                  <a:srgbClr val="48CAE4"/>
                </a:solidFill>
                <a:latin typeface="Calibri"/>
              </a:defRPr>
            </a:pPr>
            <a:r>
              <a:t>Mitigación de Vulnerabilidades OWASP</a:t>
            </a:r>
          </a:p>
          <a:p>
            <a:pPr>
              <a:spcAft>
                <a:spcPts val="700"/>
              </a:spcAft>
              <a:defRPr sz="1200">
                <a:latin typeface="Calibri"/>
              </a:defRPr>
            </a:pPr>
            <a:r>
              <a:rPr b="1">
                <a:solidFill>
                  <a:srgbClr val="FFFFFF"/>
                </a:solidFill>
              </a:rPr>
              <a:t>• Inyección SQL (SQLi) - Neutralizada: </a:t>
            </a:r>
            <a:r>
              <a:rPr b="0">
                <a:solidFill>
                  <a:srgbClr val="B4C3D7"/>
                </a:solidFill>
              </a:rPr>
              <a:t>Uso absoluto del ORM de Django con consultas parametrizadas. Cero concatenación manual de cadenas SQL en toda la plataforma.</a:t>
            </a:r>
          </a:p>
          <a:p>
            <a:pPr>
              <a:spcAft>
                <a:spcPts val="700"/>
              </a:spcAft>
              <a:defRPr sz="1200">
                <a:latin typeface="Calibri"/>
              </a:defRPr>
            </a:pPr>
            <a:r>
              <a:rPr b="1">
                <a:solidFill>
                  <a:srgbClr val="FFFFFF"/>
                </a:solidFill>
              </a:rPr>
              <a:t>• Cross-Site Scripting (XSS) - Mitigado: </a:t>
            </a:r>
            <a:r>
              <a:rPr b="0">
                <a:solidFill>
                  <a:srgbClr val="B4C3D7"/>
                </a:solidFill>
              </a:rPr>
              <a:t>Motor de plantillas con auto-escaping nativo habilitado. Toda entrada de usuario (observaciones, tareas) se sanitiza antes de renderizarse.</a:t>
            </a:r>
          </a:p>
          <a:p>
            <a:pPr>
              <a:spcAft>
                <a:spcPts val="700"/>
              </a:spcAft>
              <a:defRPr sz="1200">
                <a:latin typeface="Calibri"/>
              </a:defRPr>
            </a:pPr>
            <a:r>
              <a:rPr b="1">
                <a:solidFill>
                  <a:srgbClr val="FFFFFF"/>
                </a:solidFill>
              </a:rPr>
              <a:t>• Cross-Site Request Forgery (CSRF): </a:t>
            </a:r>
            <a:r>
              <a:rPr b="0">
                <a:solidFill>
                  <a:srgbClr val="B4C3D7"/>
                </a:solidFill>
              </a:rPr>
              <a:t>Tokens criptográficos únicos obligatorios mediante `{% csrf_token %}` en cada formulario POST, bloqueando peticiones maliciosas externas.</a:t>
            </a:r>
          </a:p>
          <a:p>
            <a:pPr>
              <a:spcAft>
                <a:spcPts val="700"/>
              </a:spcAft>
              <a:defRPr sz="1200">
                <a:latin typeface="Calibri"/>
              </a:defRPr>
            </a:pPr>
            <a:r>
              <a:rPr b="1">
                <a:solidFill>
                  <a:srgbClr val="FFFFFF"/>
                </a:solidFill>
              </a:rPr>
              <a:t>• Autenticación Criptográfica Segura: </a:t>
            </a:r>
            <a:r>
              <a:rPr b="0">
                <a:solidFill>
                  <a:srgbClr val="B4C3D7"/>
                </a:solidFill>
              </a:rPr>
              <a:t>Hashing de credenciales con algoritmo PBKDF2 con hash SHA-256 y salt de 128 bits. Ninguna contraseña se almacena en texto plano.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463040"/>
            <a:ext cx="5212080" cy="457200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 bIns="182880"/>
          <a:lstStyle/>
          <a:p>
            <a:pPr algn="ctr">
              <a:spcAft>
                <a:spcPts val="1000"/>
              </a:spcAft>
              <a:defRPr sz="1500" b="1">
                <a:solidFill>
                  <a:srgbClr val="48CAE4"/>
                </a:solidFill>
                <a:latin typeface="Calibri"/>
              </a:defRPr>
            </a:pPr>
            <a:r>
              <a:t>Trazabilidad, Alternativas y Normativa</a:t>
            </a:r>
          </a:p>
          <a:p>
            <a:pPr>
              <a:spcAft>
                <a:spcPts val="700"/>
              </a:spcAft>
              <a:defRPr sz="1200">
                <a:latin typeface="Calibri"/>
              </a:defRPr>
            </a:pPr>
            <a:r>
              <a:rPr b="1">
                <a:solidFill>
                  <a:srgbClr val="FFFFFF"/>
                </a:solidFill>
              </a:rPr>
              <a:t>• Alternativa: Módulo AuditLog: </a:t>
            </a:r>
            <a:r>
              <a:rPr b="0">
                <a:solidFill>
                  <a:srgbClr val="B4C3D7"/>
                </a:solidFill>
              </a:rPr>
              <a:t>Registro inmutable en base de datos de cada creación, modificación o eliminación: almacena usuario, fecha/hora, dirección IP y valores previos.</a:t>
            </a:r>
          </a:p>
          <a:p>
            <a:pPr>
              <a:spcAft>
                <a:spcPts val="700"/>
              </a:spcAft>
              <a:defRPr sz="1200">
                <a:latin typeface="Calibri"/>
              </a:defRPr>
            </a:pPr>
            <a:r>
              <a:rPr b="1">
                <a:solidFill>
                  <a:srgbClr val="FFFFFF"/>
                </a:solidFill>
              </a:rPr>
              <a:t>• Protección Contra Fuerza Bruta: </a:t>
            </a:r>
            <a:r>
              <a:rPr b="0">
                <a:solidFill>
                  <a:srgbClr val="B4C3D7"/>
                </a:solidFill>
              </a:rPr>
              <a:t>Limitación de intentos fallidos de autenticación y caducidad automática de sesiones inactivas.</a:t>
            </a:r>
          </a:p>
          <a:p>
            <a:pPr>
              <a:spcAft>
                <a:spcPts val="700"/>
              </a:spcAft>
              <a:defRPr sz="1200">
                <a:latin typeface="Calibri"/>
              </a:defRPr>
            </a:pPr>
            <a:r>
              <a:rPr b="1">
                <a:solidFill>
                  <a:srgbClr val="FFFFFF"/>
                </a:solidFill>
              </a:rPr>
              <a:t>• Cumplimiento Ley 1581 de 2012: </a:t>
            </a:r>
            <a:r>
              <a:rPr b="0">
                <a:solidFill>
                  <a:srgbClr val="B4C3D7"/>
                </a:solidFill>
              </a:rPr>
              <a:t>Alineado con el régimen de Habeas Data en Colombia para protección reforzada de datos personales de niñas, niños y adolescentes.</a:t>
            </a:r>
          </a:p>
          <a:p>
            <a:pPr>
              <a:spcAft>
                <a:spcPts val="700"/>
              </a:spcAft>
              <a:defRPr sz="1200">
                <a:latin typeface="Calibri"/>
              </a:defRPr>
            </a:pPr>
            <a:r>
              <a:rPr b="1">
                <a:solidFill>
                  <a:srgbClr val="FFFFFF"/>
                </a:solidFill>
              </a:rPr>
              <a:t>• Trazabilidad Jurídica: </a:t>
            </a:r>
            <a:r>
              <a:rPr b="0">
                <a:solidFill>
                  <a:srgbClr val="B4C3D7"/>
                </a:solidFill>
              </a:rPr>
              <a:t>El historial disciplinario del Observador del Alumno cuenta con registro de firmas y fechas inalterables para respaldo legal de la institución.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9728" cy="868680"/>
          </a:xfrm>
          <a:prstGeom prst="rect">
            <a:avLst/>
          </a:prstGeom>
          <a:solidFill>
            <a:srgbClr val="0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32004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8CAE4"/>
                </a:solidFill>
                <a:latin typeface="Calibri"/>
              </a:defRPr>
            </a:pPr>
            <a:r>
              <a:t>TEMA 6 • CALIDAD, EFICIENCIA Y CIERRE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594360"/>
            <a:ext cx="7772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FFFFFF"/>
                </a:solidFill>
                <a:latin typeface="Calibri"/>
              </a:defRPr>
            </a:pPr>
            <a:r>
              <a:t>6. Pruebas, Rendimiento y Conclusiones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61120" y="457200"/>
            <a:ext cx="2468880" cy="640080"/>
          </a:xfrm>
          <a:prstGeom prst="roundRect">
            <a:avLst/>
          </a:prstGeom>
          <a:solidFill>
            <a:srgbClr val="1C2541"/>
          </a:solidFill>
          <a:ln w="15240"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00A8FF"/>
                </a:solidFill>
                <a:latin typeface="Calibri"/>
              </a:defRPr>
            </a:pPr>
            <a:r>
              <a:t>PONENTE ASIGNADA</a:t>
            </a:r>
          </a:p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Yesireth Cabrera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2D41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35508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4C3D7"/>
                </a:solidFill>
                <a:latin typeface="Calibri"/>
              </a:defRPr>
            </a:pPr>
            <a:r>
              <a:t>ACADEMIX | Plataforma de Gestión Escolar Integral • SENA Ficha 3173430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35508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00A8FF"/>
                </a:solidFill>
                <a:latin typeface="Calibri"/>
              </a:defRPr>
            </a:pPr>
            <a:r>
              <a:t>9 / 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463040"/>
            <a:ext cx="5212080" cy="457200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 bIns="182880"/>
          <a:lstStyle/>
          <a:p>
            <a:pPr algn="ctr">
              <a:spcAft>
                <a:spcPts val="1000"/>
              </a:spcAft>
              <a:defRPr sz="1500" b="1">
                <a:solidFill>
                  <a:srgbClr val="48CAE4"/>
                </a:solidFill>
                <a:latin typeface="Calibri"/>
              </a:defRPr>
            </a:pPr>
            <a:r>
              <a:t>Pruebas de Calidad y Rendimiento</a:t>
            </a:r>
          </a:p>
          <a:p>
            <a:pPr>
              <a:spcAft>
                <a:spcPts val="700"/>
              </a:spcAft>
              <a:defRPr sz="1200">
                <a:latin typeface="Calibri"/>
              </a:defRPr>
            </a:pPr>
            <a:r>
              <a:rPr b="1">
                <a:solidFill>
                  <a:srgbClr val="FFFFFF"/>
                </a:solidFill>
              </a:rPr>
              <a:t>• Pruebas de Humo (Smoke Tests): </a:t>
            </a:r>
            <a:r>
              <a:rPr b="0">
                <a:solidFill>
                  <a:srgbClr val="B4C3D7"/>
                </a:solidFill>
              </a:rPr>
              <a:t>Batería automatizada de pruebas con `Django TestCase` validando códigos HTTP 200 en login, boletines y paneles por rol.</a:t>
            </a:r>
          </a:p>
          <a:p>
            <a:pPr>
              <a:spcAft>
                <a:spcPts val="700"/>
              </a:spcAft>
              <a:defRPr sz="1200">
                <a:latin typeface="Calibri"/>
              </a:defRPr>
            </a:pPr>
            <a:r>
              <a:rPr b="1">
                <a:solidFill>
                  <a:srgbClr val="FFFFFF"/>
                </a:solidFill>
              </a:rPr>
              <a:t>• Optimización contra Problema N+1: </a:t>
            </a:r>
            <a:r>
              <a:rPr b="0">
                <a:solidFill>
                  <a:srgbClr val="B4C3D7"/>
                </a:solidFill>
              </a:rPr>
              <a:t>Implementación intensiva de `select_related` (ForeignKeys) y `prefetch_related` (ManyToMany), reduciendo consultas SQL de más de 120 a solo 3 por vista.</a:t>
            </a:r>
          </a:p>
          <a:p>
            <a:pPr>
              <a:spcAft>
                <a:spcPts val="700"/>
              </a:spcAft>
              <a:defRPr sz="1200">
                <a:latin typeface="Calibri"/>
              </a:defRPr>
            </a:pPr>
            <a:r>
              <a:rPr b="1">
                <a:solidFill>
                  <a:srgbClr val="FFFFFF"/>
                </a:solidFill>
              </a:rPr>
              <a:t>• Transacciones Atómicas: </a:t>
            </a:r>
            <a:r>
              <a:rPr b="0">
                <a:solidFill>
                  <a:srgbClr val="B4C3D7"/>
                </a:solidFill>
              </a:rPr>
              <a:t>Uso de `transaction.atomic()` en el guardado masivo de calificaciones y matrículas: si falla una nota, no se corrompe el registro general.</a:t>
            </a:r>
          </a:p>
          <a:p>
            <a:pPr>
              <a:spcAft>
                <a:spcPts val="700"/>
              </a:spcAft>
              <a:defRPr sz="1200">
                <a:latin typeface="Calibri"/>
              </a:defRPr>
            </a:pPr>
            <a:r>
              <a:rPr b="1">
                <a:solidFill>
                  <a:srgbClr val="FFFFFF"/>
                </a:solidFill>
              </a:rPr>
              <a:t>• Caché y Compresión: </a:t>
            </a:r>
            <a:r>
              <a:rPr b="0">
                <a:solidFill>
                  <a:srgbClr val="B4C3D7"/>
                </a:solidFill>
              </a:rPr>
              <a:t>Archivos estáticos minificados con compresión Gzip y headers de caché en Nginx para respuesta inferior a 300 ms en red local.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463040"/>
            <a:ext cx="5212080" cy="457200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48C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 bIns="182880"/>
          <a:lstStyle/>
          <a:p>
            <a:pPr algn="ctr">
              <a:spcAft>
                <a:spcPts val="1000"/>
              </a:spcAft>
              <a:defRPr sz="1500" b="1">
                <a:solidFill>
                  <a:srgbClr val="48CAE4"/>
                </a:solidFill>
                <a:latin typeface="Calibri"/>
              </a:defRPr>
            </a:pPr>
            <a:r>
              <a:t>Métricas ISO 25010 y Conclusiones</a:t>
            </a:r>
          </a:p>
          <a:p>
            <a:pPr>
              <a:spcAft>
                <a:spcPts val="700"/>
              </a:spcAft>
              <a:defRPr sz="1200">
                <a:latin typeface="Calibri"/>
              </a:defRPr>
            </a:pPr>
            <a:r>
              <a:rPr b="1">
                <a:solidFill>
                  <a:srgbClr val="FFFFFF"/>
                </a:solidFill>
              </a:rPr>
              <a:t>• Métricas de Construcción: </a:t>
            </a:r>
            <a:r>
              <a:rPr b="0">
                <a:solidFill>
                  <a:srgbClr val="B4C3D7"/>
                </a:solidFill>
              </a:rPr>
              <a:t>15 módulos totalmente operativos, 38 migraciones aplicadas exitosamente, 0 vulnerabilidades críticas detectadas.</a:t>
            </a:r>
          </a:p>
          <a:p>
            <a:pPr>
              <a:spcAft>
                <a:spcPts val="700"/>
              </a:spcAft>
              <a:defRPr sz="1200">
                <a:latin typeface="Calibri"/>
              </a:defRPr>
            </a:pPr>
            <a:r>
              <a:rPr b="1">
                <a:solidFill>
                  <a:srgbClr val="FFFFFF"/>
                </a:solidFill>
              </a:rPr>
              <a:t>• Estándar de Calidad ISO/IEC 25010: </a:t>
            </a:r>
            <a:r>
              <a:rPr b="0">
                <a:solidFill>
                  <a:srgbClr val="B4C3D7"/>
                </a:solidFill>
              </a:rPr>
              <a:t>Altos índices de Usabilidad (diseño responsivo para móviles), Fiabilidad (respaldos diarios) y Mantenibilidad (código limpio documentado).</a:t>
            </a:r>
          </a:p>
          <a:p>
            <a:pPr>
              <a:spcAft>
                <a:spcPts val="700"/>
              </a:spcAft>
              <a:defRPr sz="1200">
                <a:latin typeface="Calibri"/>
              </a:defRPr>
            </a:pPr>
            <a:r>
              <a:rPr b="1">
                <a:solidFill>
                  <a:srgbClr val="FFFFFF"/>
                </a:solidFill>
              </a:rPr>
              <a:t>• Soberanía y Sostenibilidad Económica: </a:t>
            </a:r>
            <a:r>
              <a:rPr b="0">
                <a:solidFill>
                  <a:srgbClr val="B4C3D7"/>
                </a:solidFill>
              </a:rPr>
              <a:t>Costo de licenciamiento de $0 COP mediante el uso ético y técnico de Software Libre, accesible a colegios públicos y privados.</a:t>
            </a:r>
          </a:p>
          <a:p>
            <a:pPr>
              <a:spcAft>
                <a:spcPts val="700"/>
              </a:spcAft>
              <a:defRPr sz="1200">
                <a:latin typeface="Calibri"/>
              </a:defRPr>
            </a:pPr>
            <a:r>
              <a:rPr b="1">
                <a:solidFill>
                  <a:srgbClr val="FFFFFF"/>
                </a:solidFill>
              </a:rPr>
              <a:t>• Conclusión de Impacto: </a:t>
            </a:r>
            <a:r>
              <a:rPr b="0">
                <a:solidFill>
                  <a:srgbClr val="B4C3D7"/>
                </a:solidFill>
              </a:rPr>
              <a:t>ACADEMIX demuestra viabilidad técnica total, optimiza la labor docente y garantiza transparencia en la comunidad educativa.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731520"/>
            <a:ext cx="10728655" cy="54864"/>
          </a:xfrm>
          <a:prstGeom prst="rect">
            <a:avLst/>
          </a:prstGeom>
          <a:solidFill>
            <a:srgbClr val="0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72865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600" b="1">
                <a:solidFill>
                  <a:srgbClr val="FFFFFF"/>
                </a:solidFill>
                <a:latin typeface="Calibri"/>
              </a:defRPr>
            </a:pPr>
            <a:r>
              <a:t>¡Muchas Gracias por su Atención!</a:t>
            </a:r>
          </a:p>
          <a:p>
            <a:pPr algn="ctr">
              <a:spcBef>
                <a:spcPts val="1000"/>
              </a:spcBef>
              <a:defRPr sz="1800" b="1">
                <a:solidFill>
                  <a:srgbClr val="48CAE4"/>
                </a:solidFill>
                <a:latin typeface="Calibri"/>
              </a:defRPr>
            </a:pPr>
            <a:r>
              <a:t>ACADEMIX: Transformando la Gestión Escolar con Tecnología Segura, Accesible y Eficiente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926080"/>
            <a:ext cx="3383280" cy="292608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Yurleidis Londoño</a:t>
            </a:r>
          </a:p>
          <a:p>
            <a:pPr>
              <a:spcAft>
                <a:spcPts val="1200"/>
              </a:spcAft>
              <a:defRPr sz="1050" b="1">
                <a:solidFill>
                  <a:srgbClr val="48CAE4"/>
                </a:solidFill>
                <a:latin typeface="Calibri"/>
              </a:defRPr>
            </a:pPr>
            <a:r>
              <a:t>APERTURA &amp; DESPLIEGUE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B4C3D7"/>
                </a:solidFill>
              </a:rPr>
              <a:t>✓ Problemática Institucional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B4C3D7"/>
                </a:solidFill>
              </a:rPr>
              <a:t>✓ Qué es ACADEMIX y Entorno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B4C3D7"/>
                </a:solidFill>
              </a:rPr>
              <a:t>✓ Pasos Técnicos de Instalación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B4C3D7"/>
                </a:solidFill>
              </a:rPr>
              <a:t>✓ Configuración de Servidor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98264" y="2926080"/>
            <a:ext cx="3383280" cy="292608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Nurys González</a:t>
            </a:r>
          </a:p>
          <a:p>
            <a:pPr>
              <a:spcAft>
                <a:spcPts val="1200"/>
              </a:spcAft>
              <a:defRPr sz="1050" b="1">
                <a:solidFill>
                  <a:srgbClr val="48CAE4"/>
                </a:solidFill>
                <a:latin typeface="Calibri"/>
              </a:defRPr>
            </a:pPr>
            <a:r>
              <a:t>CONTINUIDAD &amp; ARQUITECTURA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B4C3D7"/>
                </a:solidFill>
              </a:rPr>
              <a:t>✓ Estrategia de Respaldo 3-2-1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B4C3D7"/>
                </a:solidFill>
              </a:rPr>
              <a:t>✓ Métricas RTO y RPO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B4C3D7"/>
                </a:solidFill>
              </a:rPr>
              <a:t>✓ Arquitectura MVT y 15 Apps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B4C3D7"/>
                </a:solidFill>
              </a:rPr>
              <a:t>✓ Control de Acceso RBAC 6 Roles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65008" y="2926080"/>
            <a:ext cx="3383280" cy="292608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48C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Yesireth Cabrera</a:t>
            </a:r>
          </a:p>
          <a:p>
            <a:pPr>
              <a:spcAft>
                <a:spcPts val="1200"/>
              </a:spcAft>
              <a:defRPr sz="1050" b="1">
                <a:solidFill>
                  <a:srgbClr val="48CAE4"/>
                </a:solidFill>
                <a:latin typeface="Calibri"/>
              </a:defRPr>
            </a:pPr>
            <a:r>
              <a:t>SEGURIDAD &amp; CALIDAD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B4C3D7"/>
                </a:solidFill>
              </a:rPr>
              <a:t>✓ Mitigación de Riesgos OWASP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B4C3D7"/>
                </a:solidFill>
              </a:rPr>
              <a:t>✓ Habeas Data y Ley 1581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B4C3D7"/>
                </a:solidFill>
              </a:rPr>
              <a:t>✓ Pruebas de Humo y Rendimiento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B4C3D7"/>
                </a:solidFill>
              </a:rPr>
              <a:t>✓ Conclusiones y Métricas ISO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035040"/>
            <a:ext cx="1072865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B4C3D7"/>
                </a:solidFill>
                <a:latin typeface="Calibri"/>
              </a:defRPr>
            </a:pPr>
            <a:r>
              <a:t>SENA Centro de Comercio y Servicios • Ficha: 3173430 • Instructor: Anybal López •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