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8655" cy="54864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822960"/>
            <a:ext cx="4114800" cy="41148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A8FF"/>
                </a:solidFill>
                <a:latin typeface="Calibri"/>
              </a:defRPr>
            </a:pPr>
            <a:r>
              <a:t>SUSTENTACIÓN DE PROYECTO FORMATIVO SENA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Calibri"/>
              </a:defRPr>
            </a:pPr>
            <a:r>
              <a:t>ACADEMIX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8CAE4"/>
                </a:solidFill>
                <a:latin typeface="Calibri"/>
              </a:defRPr>
            </a:pPr>
            <a:r>
              <a:t>Sistema Integral de Gestión Académica, Convivencia Escolar y Control Institucional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5120640" cy="2560320"/>
          </a:xfrm>
          <a:prstGeom prst="roundRect">
            <a:avLst/>
          </a:prstGeom>
          <a:solidFill>
            <a:srgbClr val="1C2541"/>
          </a:solidFill>
          <a:ln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tlCol="0" anchor="ctr"/>
          <a:lstStyle/>
          <a:p>
            <a:pPr algn="ctr">
              <a:spcAft>
                <a:spcPts val="1000"/>
              </a:spcAft>
              <a:defRPr sz="1300" b="1">
                <a:solidFill>
                  <a:srgbClr val="00A8FF"/>
                </a:solidFill>
                <a:latin typeface="Calibri"/>
              </a:defRPr>
            </a:pPr>
            <a:r>
              <a:t>DATOS INSTITUCIONALES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</a:rPr>
              <a:t>Institución: </a:t>
            </a:r>
            <a:r>
              <a:rPr sz="1100" b="0">
                <a:solidFill>
                  <a:srgbClr val="B4C3D7"/>
                </a:solidFill>
              </a:rPr>
              <a:t>Servicio Nacional de Aprendizaje (SENA)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</a:rPr>
              <a:t>Centro: </a:t>
            </a:r>
            <a:r>
              <a:rPr sz="1100" b="0">
                <a:solidFill>
                  <a:srgbClr val="B4C3D7"/>
                </a:solidFill>
              </a:rPr>
              <a:t>Centro de Comercio y Servicios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</a:rPr>
              <a:t>Programa: </a:t>
            </a:r>
            <a:r>
              <a:rPr sz="1100" b="0">
                <a:solidFill>
                  <a:srgbClr val="B4C3D7"/>
                </a:solidFill>
              </a:rPr>
              <a:t>Tecnología en Análisis y Desarrollo de Software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</a:rPr>
              <a:t>Ficha: </a:t>
            </a:r>
            <a:r>
              <a:rPr sz="1100" b="0">
                <a:solidFill>
                  <a:srgbClr val="B4C3D7"/>
                </a:solidFill>
              </a:rPr>
              <a:t>3173430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</a:rPr>
              <a:t>Instructor Líder: </a:t>
            </a:r>
            <a:r>
              <a:rPr sz="1100" b="0">
                <a:solidFill>
                  <a:srgbClr val="B4C3D7"/>
                </a:solidFill>
              </a:rPr>
              <a:t>Anybal López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</a:rPr>
              <a:t>Lugar y Año: </a:t>
            </a:r>
            <a:r>
              <a:rPr sz="1100" b="0">
                <a:solidFill>
                  <a:srgbClr val="B4C3D7"/>
                </a:solidFill>
              </a:rPr>
              <a:t>Colombia - 2026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291840"/>
            <a:ext cx="5303520" cy="256032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tlCol="0" anchor="ctr"/>
          <a:lstStyle/>
          <a:p>
            <a:pPr algn="ctr">
              <a:spcAft>
                <a:spcPts val="1200"/>
              </a:spcAft>
              <a:defRPr sz="1300" b="1">
                <a:solidFill>
                  <a:srgbClr val="48CAE4"/>
                </a:solidFill>
                <a:latin typeface="Calibri"/>
              </a:defRPr>
            </a:pPr>
            <a:r>
              <a:t>EQUIPO DE DESARROLLO Y SUSTENTACIÓN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</a:rPr>
              <a:t>1. Yurleidis Londoño
</a:t>
            </a:r>
            <a:r>
              <a:rPr sz="1050" b="0">
                <a:solidFill>
                  <a:srgbClr val="B4C3D7"/>
                </a:solidFill>
              </a:rPr>
              <a:t>   Temas 1 y 2 • Problemática, Qué es ACADEMIX y Despliegue Técnico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</a:rPr>
              <a:t>2. Nurys González
</a:t>
            </a:r>
            <a:r>
              <a:rPr sz="1050" b="0">
                <a:solidFill>
                  <a:srgbClr val="B4C3D7"/>
                </a:solidFill>
              </a:rPr>
              <a:t>   Temas 3 y 4 • Respaldo, Recuperación, Arquitectura MVT y RBAC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</a:rPr>
              <a:t>3. Yesireth Cabrera
</a:t>
            </a:r>
            <a:r>
              <a:rPr sz="1050" b="0">
                <a:solidFill>
                  <a:srgbClr val="B4C3D7"/>
                </a:solidFill>
              </a:rPr>
              <a:t>   Temas 5 y 6 • Seguridad OWASP, Mitigaciones, Pruebas y Rendimiento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204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" cy="8686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8CAE4"/>
                </a:solidFill>
                <a:latin typeface="Calibri"/>
              </a:defRPr>
            </a:pPr>
            <a:r>
              <a:t>AGENDA TEMÁTICA DE SUSTENTACIÓN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94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Calibri"/>
              </a:defRPr>
            </a:pPr>
            <a:r>
              <a:t>Ruta de la Presentación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457200"/>
            <a:ext cx="2468880" cy="64008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00A8FF"/>
                </a:solidFill>
                <a:latin typeface="Calibri"/>
              </a:defRPr>
            </a:pPr>
            <a:r>
              <a:t>PONENTE ASIGNADA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Equipo Ponente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2D4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C3D7"/>
                </a:solidFill>
                <a:latin typeface="Calibri"/>
              </a:defRPr>
            </a:pPr>
            <a:r>
              <a:t>ACADEMIX | Plataforma de Gestión Escolar Integral • SENA Ficha 3173430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A8FF"/>
                </a:solidFill>
                <a:latin typeface="Calibri"/>
              </a:defRPr>
            </a:pPr>
            <a:r>
              <a:t>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10728655" cy="713232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1554480"/>
            <a:ext cx="530352" cy="530352"/>
          </a:xfrm>
          <a:prstGeom prst="round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B132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554480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alibri"/>
              </a:defRPr>
            </a:pPr>
            <a:r>
              <a:t>Qué es ACADEMIX y entorno de despliegue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1581912"/>
            <a:ext cx="2011680" cy="457200"/>
          </a:xfrm>
          <a:prstGeom prst="roundRect">
            <a:avLst/>
          </a:prstGeom>
          <a:solidFill>
            <a:srgbClr val="10192D"/>
          </a:solidFill>
          <a:ln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8CAE4"/>
                </a:solidFill>
                <a:latin typeface="Calibri"/>
              </a:defRPr>
            </a:pPr>
            <a:r>
              <a:rPr dirty="0" err="1"/>
              <a:t>Yurleidis</a:t>
            </a:r>
            <a:r>
              <a:rPr dirty="0"/>
              <a:t> </a:t>
            </a:r>
            <a:r>
              <a:rPr dirty="0" err="1"/>
              <a:t>Londoño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9189720" y="1581912"/>
            <a:ext cx="2103120" cy="45720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Fundamentos &amp; Alcance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258568"/>
            <a:ext cx="10728655" cy="713232"/>
          </a:xfrm>
          <a:prstGeom prst="roundRect">
            <a:avLst/>
          </a:prstGeom>
          <a:solidFill>
            <a:srgbClr val="141E37"/>
          </a:solidFill>
          <a:ln w="12700"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68680" y="2350008"/>
            <a:ext cx="530352" cy="530352"/>
          </a:xfrm>
          <a:prstGeom prst="round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B132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350008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Pasos de despliegue e instalación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0" y="2377440"/>
            <a:ext cx="2011680" cy="457200"/>
          </a:xfrm>
          <a:prstGeom prst="roundRect">
            <a:avLst/>
          </a:prstGeom>
          <a:solidFill>
            <a:srgbClr val="10192D"/>
          </a:solidFill>
          <a:ln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8CAE4"/>
                </a:solidFill>
                <a:latin typeface="Calibri"/>
              </a:defRPr>
            </a:pPr>
            <a:r>
              <a:t>Yurleidis Londoño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9720" y="2377440"/>
            <a:ext cx="2103120" cy="45720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Servidor, WSGI &amp; Nginx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54096"/>
            <a:ext cx="10728655" cy="713232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680" y="3145536"/>
            <a:ext cx="530352" cy="530352"/>
          </a:xfrm>
          <a:prstGeom prst="round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B132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145536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Respaldo, recuperación y observabilidad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3172968"/>
            <a:ext cx="2011680" cy="457200"/>
          </a:xfrm>
          <a:prstGeom prst="roundRect">
            <a:avLst/>
          </a:prstGeom>
          <a:solidFill>
            <a:srgbClr val="10192D"/>
          </a:solidFill>
          <a:ln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8CAE4"/>
                </a:solidFill>
                <a:latin typeface="Calibri"/>
              </a:defRPr>
            </a:pPr>
            <a:r>
              <a:t>Nurys González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3172968"/>
            <a:ext cx="2103120" cy="45720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Regla 3-2-1, RTO &amp; RPO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849624"/>
            <a:ext cx="10728655" cy="713232"/>
          </a:xfrm>
          <a:prstGeom prst="roundRect">
            <a:avLst/>
          </a:prstGeom>
          <a:solidFill>
            <a:srgbClr val="141E37"/>
          </a:solidFill>
          <a:ln w="12700"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68680" y="3941063"/>
            <a:ext cx="530352" cy="530352"/>
          </a:xfrm>
          <a:prstGeom prst="round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B132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941063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alibri"/>
              </a:defRPr>
            </a:pPr>
            <a:r>
              <a:t>Arquitectura y aseguramiento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3968496"/>
            <a:ext cx="2011680" cy="457200"/>
          </a:xfrm>
          <a:prstGeom prst="roundRect">
            <a:avLst/>
          </a:prstGeom>
          <a:solidFill>
            <a:srgbClr val="10192D"/>
          </a:solidFill>
          <a:ln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8CAE4"/>
                </a:solidFill>
                <a:latin typeface="Calibri"/>
              </a:defRPr>
            </a:pPr>
            <a:r>
              <a:t>Nurys González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89720" y="3968496"/>
            <a:ext cx="2103120" cy="45720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MVT 15 Apps &amp; RBAC 6 Roles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645152"/>
            <a:ext cx="10728655" cy="713232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68680" y="4736592"/>
            <a:ext cx="530352" cy="530352"/>
          </a:xfrm>
          <a:prstGeom prst="roundRect">
            <a:avLst/>
          </a:prstGeom>
          <a:solidFill>
            <a:srgbClr val="FFB7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B132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736592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alibri"/>
              </a:defRPr>
            </a:pPr>
            <a:r>
              <a:t>Vulnerabilidades y alternativas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040880" y="4764024"/>
            <a:ext cx="2011680" cy="457200"/>
          </a:xfrm>
          <a:prstGeom prst="roundRect">
            <a:avLst/>
          </a:prstGeom>
          <a:solidFill>
            <a:srgbClr val="10192D"/>
          </a:solidFill>
          <a:ln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8CAE4"/>
                </a:solidFill>
                <a:latin typeface="Calibri"/>
              </a:defRPr>
            </a:pPr>
            <a:r>
              <a:t>Yesireth Cabrera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89720" y="4764024"/>
            <a:ext cx="2103120" cy="45720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OWASP, SQLi, CSRF &amp; Ley 1581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440679"/>
            <a:ext cx="10728655" cy="713232"/>
          </a:xfrm>
          <a:prstGeom prst="roundRect">
            <a:avLst/>
          </a:prstGeom>
          <a:solidFill>
            <a:srgbClr val="141E37"/>
          </a:solidFill>
          <a:ln w="12700"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68680" y="5532119"/>
            <a:ext cx="530352" cy="530352"/>
          </a:xfrm>
          <a:prstGeom prst="round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B132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532119"/>
            <a:ext cx="5303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Pruebas, rendimiento y conclusiones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040880" y="5559551"/>
            <a:ext cx="2011680" cy="457200"/>
          </a:xfrm>
          <a:prstGeom prst="roundRect">
            <a:avLst/>
          </a:prstGeom>
          <a:solidFill>
            <a:srgbClr val="10192D"/>
          </a:solidFill>
          <a:ln>
            <a:solidFill>
              <a:srgbClr val="2D41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8CAE4"/>
                </a:solidFill>
                <a:latin typeface="Calibri"/>
              </a:defRPr>
            </a:pPr>
            <a:r>
              <a:t>Yesireth Cabrera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89720" y="5559551"/>
            <a:ext cx="2103120" cy="457200"/>
          </a:xfrm>
          <a:prstGeom prst="roundRect">
            <a:avLst/>
          </a:prstGeom>
          <a:solidFill>
            <a:srgbClr val="10192D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Calibri"/>
              </a:defRPr>
            </a:pPr>
            <a:r>
              <a:t>Smoke Tests, N+1 &amp; ISO 25010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" cy="8686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8CAE4"/>
                </a:solidFill>
                <a:latin typeface="Calibri"/>
              </a:defRPr>
            </a:pPr>
            <a:r>
              <a:t>CONTEXTO DE IMPACTO EDUCATIVO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94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Calibri"/>
              </a:defRPr>
            </a:pPr>
            <a:r>
              <a:t>¿Qué Mejora en los Colegios con ACADEMIX?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457200"/>
            <a:ext cx="2468880" cy="64008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00A8FF"/>
                </a:solidFill>
                <a:latin typeface="Calibri"/>
              </a:defRPr>
            </a:pPr>
            <a:r>
              <a:t>PONENTE ASIGNADA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Yurleidis Londoño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2D4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C3D7"/>
                </a:solidFill>
                <a:latin typeface="Calibri"/>
              </a:defRPr>
            </a:pPr>
            <a:r>
              <a:t>ACADEMIX | Plataforma de Gestión Escolar Integral • SENA Ficha 3173430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A8FF"/>
                </a:solidFill>
                <a:latin typeface="Calibri"/>
              </a:defRPr>
            </a:pPr>
            <a:r>
              <a:t>3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La Realidad Tradicional en las Escuelas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Pérdida y Dispersión de Información: </a:t>
            </a:r>
            <a:r>
              <a:rPr b="0">
                <a:solidFill>
                  <a:srgbClr val="B4C3D7"/>
                </a:solidFill>
              </a:rPr>
              <a:t>Planillas físicas en papel, carpetas extraviadas y archivos Excel dispersos sin respaldo.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Aislamiento Familia-Escuela: </a:t>
            </a:r>
            <a:r>
              <a:rPr b="0">
                <a:solidFill>
                  <a:srgbClr val="B4C3D7"/>
                </a:solidFill>
              </a:rPr>
              <a:t>Los acudientes se enteraban del bajo rendimiento o faltas de asistencia semanas después en entrega de notas.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Vulnerabilidad en Calificaciones: </a:t>
            </a:r>
            <a:r>
              <a:rPr b="0">
                <a:solidFill>
                  <a:srgbClr val="B4C3D7"/>
                </a:solidFill>
              </a:rPr>
              <a:t>Cálculos manuales propensos a errores aritméticos, tachaduras o manipulación no autorizada.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Sobrecarga Administrativa: </a:t>
            </a:r>
            <a:r>
              <a:rPr b="0">
                <a:solidFill>
                  <a:srgbClr val="B4C3D7"/>
                </a:solidFill>
              </a:rPr>
              <a:t>Docentes y directivos invertían días enteros digitando boletines y consolidados a mano.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Transformación y Valor Agregado ACADEMIX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Centralización Digital Total: </a:t>
            </a:r>
            <a:r>
              <a:rPr b="0">
                <a:solidFill>
                  <a:srgbClr val="B4C3D7"/>
                </a:solidFill>
              </a:rPr>
              <a:t>Plataforma única para notas, asistencias, observador del alumno y tareas accesibles en tiempo real.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Portal de Seguimiento para Padres: </a:t>
            </a:r>
            <a:r>
              <a:rPr b="0">
                <a:solidFill>
                  <a:srgbClr val="B4C3D7"/>
                </a:solidFill>
              </a:rPr>
              <a:t>Los acudientes consultan en vivo el avance académico, asistencia diaria y compromisos de sus hijos.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Blindaje Matemático Automático: </a:t>
            </a:r>
            <a:r>
              <a:rPr b="0">
                <a:solidFill>
                  <a:srgbClr val="B4C3D7"/>
                </a:solidFill>
              </a:rPr>
              <a:t>Cálculo instantáneo con ponderaciones por periodo, escalas del Decreto 1290 y cierre de actas.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Optimización Institucional del 80%: </a:t>
            </a:r>
            <a:r>
              <a:rPr b="0">
                <a:solidFill>
                  <a:srgbClr val="B4C3D7"/>
                </a:solidFill>
              </a:rPr>
              <a:t>Generación inmediata de boletines PDF oficiales, reportes consolidados y auditoría completa de cada cambio.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" cy="8686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8CAE4"/>
                </a:solidFill>
                <a:latin typeface="Calibri"/>
              </a:defRPr>
            </a:pPr>
            <a:r>
              <a:t>TEMA 1 • FUNDAMENTOS Y DESPLIEGUE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94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Calibri"/>
              </a:defRPr>
            </a:pPr>
            <a:r>
              <a:t>1. Qué es ACADEMIX y Entorno de Despliegue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457200"/>
            <a:ext cx="2468880" cy="64008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00A8FF"/>
                </a:solidFill>
                <a:latin typeface="Calibri"/>
              </a:defRPr>
            </a:pPr>
            <a:r>
              <a:t>PONENTE ASIGNADA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Yurleidis Londoño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2D4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C3D7"/>
                </a:solidFill>
                <a:latin typeface="Calibri"/>
              </a:defRPr>
            </a:pPr>
            <a:r>
              <a:t>ACADEMIX | Plataforma de Gestión Escolar Integral • SENA Ficha 3173430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A8FF"/>
                </a:solidFill>
                <a:latin typeface="Calibri"/>
              </a:defRPr>
            </a:pPr>
            <a:r>
              <a:t>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342900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¿Qué es ACADEMIX?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Definición Central: </a:t>
            </a:r>
            <a:r>
              <a:rPr b="0">
                <a:solidFill>
                  <a:srgbClr val="B4C3D7"/>
                </a:solidFill>
              </a:rPr>
              <a:t>Plataforma web integral orientada a la gestión académica, pedagógica y de convivencia para colegios.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Propósito Clave: </a:t>
            </a:r>
            <a:r>
              <a:rPr b="0">
                <a:solidFill>
                  <a:srgbClr val="B4C3D7"/>
                </a:solidFill>
              </a:rPr>
              <a:t>Democratizar la tecnología educativa con altos estándares de seguridad y cero costo de licencias privativas.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Alcance Multi-Rol: </a:t>
            </a:r>
            <a:r>
              <a:rPr b="0">
                <a:solidFill>
                  <a:srgbClr val="B4C3D7"/>
                </a:solidFill>
              </a:rPr>
              <a:t>Conecta en un solo ecosistema a Directivos, Rectores, Coordinadores, Docentes, Estudiantes y Acudientes.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Cumplimiento Normativo: </a:t>
            </a:r>
            <a:r>
              <a:rPr b="0">
                <a:solidFill>
                  <a:srgbClr val="B4C3D7"/>
                </a:solidFill>
              </a:rPr>
              <a:t>Alineado con el Decreto 1290 de 2009 (Evaluación escolar en Colombia) y Ley 1581 de 2012.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42900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¿Qué se Utiliza? (Stack)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Backend Robusto: </a:t>
            </a:r>
            <a:r>
              <a:rPr b="0">
                <a:solidFill>
                  <a:srgbClr val="B4C3D7"/>
                </a:solidFill>
              </a:rPr>
              <a:t>Python 3.10+ y Django Web Framework (ORM seguro, arquitectura escalable y baterías incluidas).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Base de Datos: </a:t>
            </a:r>
            <a:r>
              <a:rPr b="0">
                <a:solidFill>
                  <a:srgbClr val="B4C3D7"/>
                </a:solidFill>
              </a:rPr>
              <a:t>PostgreSQL (motor relacional empresarial con soporte transaccional ACID y alta concurrencia).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Servidor de Producción: </a:t>
            </a:r>
            <a:r>
              <a:rPr b="0">
                <a:solidFill>
                  <a:srgbClr val="B4C3D7"/>
                </a:solidFill>
              </a:rPr>
              <a:t>Nginx como Reverse Proxy (SSL/TLS, compresión Gzip) + Gunicorn como servidor WSGI multi-worker.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Frontend Moderno: </a:t>
            </a:r>
            <a:r>
              <a:rPr b="0">
                <a:solidFill>
                  <a:srgbClr val="B4C3D7"/>
                </a:solidFill>
              </a:rPr>
              <a:t>HTML5 semántico, CSS3 modular responsive y JavaScript moderno para interacción fluida.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2900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Entornos de Despliegue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Red Local Institucional (LAN): </a:t>
            </a:r>
            <a:r>
              <a:rPr b="0">
                <a:solidFill>
                  <a:srgbClr val="B4C3D7"/>
                </a:solidFill>
              </a:rPr>
              <a:t>Despliegue en servidor físico dentro del colegio. Ideal para sedes con Internet intermitente, funcionando 100% offline.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Acceso Wi-Fi Escolar: </a:t>
            </a:r>
            <a:r>
              <a:rPr b="0">
                <a:solidFill>
                  <a:srgbClr val="B4C3D7"/>
                </a:solidFill>
              </a:rPr>
              <a:t>Docentes y directivos acceden desde laptops y tablets conectadas a la red inalámbrica de la institución.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Nube / VPS (Ubuntu Server): </a:t>
            </a:r>
            <a:r>
              <a:rPr b="0">
                <a:solidFill>
                  <a:srgbClr val="B4C3D7"/>
                </a:solidFill>
              </a:rPr>
              <a:t>Despliegue en servidor virtual (DigitalOcean, AWS o Linode) permitiendo acceso 24/7 a padres desde cualquier lugar.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Portabilidad Docker/Venv: </a:t>
            </a:r>
            <a:r>
              <a:rPr b="0">
                <a:solidFill>
                  <a:srgbClr val="B4C3D7"/>
                </a:solidFill>
              </a:rPr>
              <a:t>Contenedores y entornos virtuales aislados que garantizan ejecución idéntica en cualquier servidor.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" cy="8686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8CAE4"/>
                </a:solidFill>
                <a:latin typeface="Calibri"/>
              </a:defRPr>
            </a:pPr>
            <a:r>
              <a:t>TEMA 2 • PROCESO TÉCNICO DE INSTALACIÓN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94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Calibri"/>
              </a:defRPr>
            </a:pPr>
            <a:r>
              <a:t>2. Pasos de Despliegue e Instalación Técnica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457200"/>
            <a:ext cx="2468880" cy="64008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00A8FF"/>
                </a:solidFill>
                <a:latin typeface="Calibri"/>
              </a:defRPr>
            </a:pPr>
            <a:r>
              <a:t>PONENTE ASIGNADA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Yurleidis Londoño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2D4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C3D7"/>
                </a:solidFill>
                <a:latin typeface="Calibri"/>
              </a:defRPr>
            </a:pPr>
            <a:r>
              <a:t>ACADEMIX | Plataforma de Gestión Escolar Integral • SENA Ficha 3173430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A8FF"/>
                </a:solidFill>
                <a:latin typeface="Calibri"/>
              </a:defRPr>
            </a:pPr>
            <a:r>
              <a:t>5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Requisitos y Preparación de Sistema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Hardware Mínimo: </a:t>
            </a:r>
            <a:r>
              <a:rPr b="0">
                <a:solidFill>
                  <a:srgbClr val="B4C3D7"/>
                </a:solidFill>
              </a:rPr>
              <a:t>2 vCPU / Procesador x64, 2 GB Memoria RAM, 20 GB Almacenamiento SSD.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Hardware Recomendado: </a:t>
            </a:r>
            <a:r>
              <a:rPr b="0">
                <a:solidFill>
                  <a:srgbClr val="B4C3D7"/>
                </a:solidFill>
              </a:rPr>
              <a:t>4 vCPU, 4 GB RAM, 50 GB Almacenamiento NVMe para más de 1,500 estudiantes activos.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Sistema Operativo: </a:t>
            </a:r>
            <a:r>
              <a:rPr b="0">
                <a:solidFill>
                  <a:srgbClr val="B4C3D7"/>
                </a:solidFill>
              </a:rPr>
              <a:t>Ubuntu Server 22.04 LTS o Debian 12 con soporte extendido de parches de seguridad.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Fase 1 - SO y Librerías: </a:t>
            </a:r>
            <a:r>
              <a:rPr b="0">
                <a:solidFill>
                  <a:srgbClr val="B4C3D7"/>
                </a:solidFill>
              </a:rPr>
              <a:t>Actualización con `apt update &amp;&amp; apt upgrade -y`. Instalación de `python3-venv`, `python3-dev`, `libpq-dev`, `git` y `build-essential`.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Fases de Configuración y Producción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Fase 2 - Base de Datos: </a:t>
            </a:r>
            <a:r>
              <a:rPr b="0">
                <a:solidFill>
                  <a:srgbClr val="B4C3D7"/>
                </a:solidFill>
              </a:rPr>
              <a:t>Creación de base de datos dedicada `academix_db` y usuario `academix_user` en PostgreSQL con contraseña robusta y privilegios restringidos.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Fase 3 - Repositorio y Venv: </a:t>
            </a:r>
            <a:r>
              <a:rPr b="0">
                <a:solidFill>
                  <a:srgbClr val="B4C3D7"/>
                </a:solidFill>
              </a:rPr>
              <a:t>Clonación desde repositorio Git institucional, creación del entorno virtual aislado `python3 -m venv venv` e instalación vía `pip install -r requirements.txt`.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Fase 4 - Migraciones y Estáticos: </a:t>
            </a:r>
            <a:r>
              <a:rPr b="0">
                <a:solidFill>
                  <a:srgbClr val="B4C3D7"/>
                </a:solidFill>
              </a:rPr>
              <a:t>Ejecución de `python manage.py migrate` (38 migraciones del esquema relacional), `collectstatic` para compilar activos y creación de superusuario rector.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Fase 5 - Daemon WSGI y Nginx: </a:t>
            </a:r>
            <a:r>
              <a:rPr b="0">
                <a:solidFill>
                  <a:srgbClr val="B4C3D7"/>
                </a:solidFill>
              </a:rPr>
              <a:t>Configuración del servicio Systemd `academix.service` ejecutando Gunicorn con 3 workers, y proxy inverso Nginx con enrutamiento de socket Unix y SSL.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" cy="8686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8CAE4"/>
                </a:solidFill>
                <a:latin typeface="Calibri"/>
              </a:defRPr>
            </a:pPr>
            <a:r>
              <a:t>TEMA 3 • BASE DE DATOS Y CONTINUIDAD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94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Calibri"/>
              </a:defRPr>
            </a:pPr>
            <a:r>
              <a:t>3. Respaldo, Recuperación y Observabilidad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457200"/>
            <a:ext cx="2468880" cy="64008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00A8FF"/>
                </a:solidFill>
                <a:latin typeface="Calibri"/>
              </a:defRPr>
            </a:pPr>
            <a:r>
              <a:t>PONENTE ASIGNADA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Nurys González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2D4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C3D7"/>
                </a:solidFill>
                <a:latin typeface="Calibri"/>
              </a:defRPr>
            </a:pPr>
            <a:r>
              <a:t>ACADEMIX | Plataforma de Gestión Escolar Integral • SENA Ficha 3173430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A8FF"/>
                </a:solidFill>
                <a:latin typeface="Calibri"/>
              </a:defRPr>
            </a:pPr>
            <a:r>
              <a:t>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Estrategia de Respaldos (3-2-1)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Regla Estratégica 3-2-1: </a:t>
            </a:r>
            <a:r>
              <a:rPr b="0">
                <a:solidFill>
                  <a:srgbClr val="B4C3D7"/>
                </a:solidFill>
              </a:rPr>
              <a:t>3 copias de seguridad de las notas y matrículas, en 2 medios distintos (disco local + almacenamiento externo), y 1 copia fuera de la institución (nube segura / NAS remoto).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Respaldo Total (Full): </a:t>
            </a:r>
            <a:r>
              <a:rPr b="0">
                <a:solidFill>
                  <a:srgbClr val="B4C3D7"/>
                </a:solidFill>
              </a:rPr>
              <a:t>Exportación binaria comprimida diaria ejecutada a las 02:00 AM mediante la utilidad `pg_dump -Fc` con rotación automatizada de 30 días.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Respaldo Diferencial / WAL: </a:t>
            </a:r>
            <a:r>
              <a:rPr b="0">
                <a:solidFill>
                  <a:srgbClr val="B4C3D7"/>
                </a:solidFill>
              </a:rPr>
              <a:t>Archivado de registros de transacciones Write-Ahead Logging (WAL) para recuperación granular ante fallos.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Respaldo de Evidencias (Media): </a:t>
            </a:r>
            <a:r>
              <a:rPr b="0">
                <a:solidFill>
                  <a:srgbClr val="B4C3D7"/>
                </a:solidFill>
              </a:rPr>
              <a:t>Sincronización automatizada con `rsync` de la carpeta `media/` que contiene archivos adjuntos de tareas y reportes del observador.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Métricas de Continuidad y Observabilidad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Métrica RPO (Objetivo de Punto): </a:t>
            </a:r>
            <a:r>
              <a:rPr b="0">
                <a:solidFill>
                  <a:srgbClr val="B4C3D7"/>
                </a:solidFill>
              </a:rPr>
              <a:t>RPO &lt; 24 Horas: Pérdida máxima admisible de datos garantizada en caso de caída total del hardware.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Métrica RTO (Objetivo de Tiempo): </a:t>
            </a:r>
            <a:r>
              <a:rPr b="0">
                <a:solidFill>
                  <a:srgbClr val="B4C3D7"/>
                </a:solidFill>
              </a:rPr>
              <a:t>RTO &lt; 2 Horas: Tiempo máximo para restablecer la operación institucional completa ante cualquier siniestro.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Restauración y Rollback: </a:t>
            </a:r>
            <a:r>
              <a:rPr b="0">
                <a:solidFill>
                  <a:srgbClr val="B4C3D7"/>
                </a:solidFill>
              </a:rPr>
              <a:t>Procedimiento de recuperación validado con `pg_restore --clean --if-exists`, permitiendo volver a un estado estable sin corromper la integridad.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Observabilidad y Auditoría: </a:t>
            </a:r>
            <a:r>
              <a:rPr b="0">
                <a:solidFill>
                  <a:srgbClr val="B4C3D7"/>
                </a:solidFill>
              </a:rPr>
              <a:t>Monitoreo permanente de logs de Nginx, bitácora de errores de Gunicorn y registro inmutable `AuditLog` en base de datos para todas las operaciones críticas.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" cy="8686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8CAE4"/>
                </a:solidFill>
                <a:latin typeface="Calibri"/>
              </a:defRPr>
            </a:pPr>
            <a:r>
              <a:t>TEMA 4 • PATRÓN MVT Y CONTROL DE ACCESO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94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Calibri"/>
              </a:defRPr>
            </a:pPr>
            <a:r>
              <a:t>4. Arquitectura y Aseguramiento Institucional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457200"/>
            <a:ext cx="2468880" cy="64008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00A8FF"/>
                </a:solidFill>
                <a:latin typeface="Calibri"/>
              </a:defRPr>
            </a:pPr>
            <a:r>
              <a:t>PONENTE ASIGNADA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Nurys González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2D4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C3D7"/>
                </a:solidFill>
                <a:latin typeface="Calibri"/>
              </a:defRPr>
            </a:pPr>
            <a:r>
              <a:t>ACADEMIX | Plataforma de Gestión Escolar Integral • SENA Ficha 3173430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A8FF"/>
                </a:solidFill>
                <a:latin typeface="Calibri"/>
              </a:defRPr>
            </a:pPr>
            <a:r>
              <a:t>7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Arquitectura MVT y 15 Módulos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Patrón MVT (Model-View-Template): </a:t>
            </a:r>
            <a:r>
              <a:rPr b="0">
                <a:solidFill>
                  <a:srgbClr val="B4C3D7"/>
                </a:solidFill>
              </a:rPr>
              <a:t>Separación estricta de responsabilidades: Modelos (reglas de datos y relaciones), Vistas (lógica de negocio y transacciones) y Templates (interfaz segura).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Ecosistema de 15 Aplicaciones: </a:t>
            </a:r>
            <a:r>
              <a:rPr b="0">
                <a:solidFill>
                  <a:srgbClr val="B4C3D7"/>
                </a:solidFill>
              </a:rPr>
              <a:t>Arquitectura modular e independiente: `accounts`, `students`, `teachers`, `courses`, `grades`, `attendance`, `homework`, `behavior`, `communication`, entre otros.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Integridad Referencial 3FN: </a:t>
            </a:r>
            <a:r>
              <a:rPr b="0">
                <a:solidFill>
                  <a:srgbClr val="B4C3D7"/>
                </a:solidFill>
              </a:rPr>
              <a:t>Esquema de base de datos normalizado en Tercera Forma Normal (3FN), eliminando redundancias y garantizando consistencia en matrículas y calificaciones.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Validaciones en Capa de Datos: </a:t>
            </a:r>
            <a:r>
              <a:rPr b="0">
                <a:solidFill>
                  <a:srgbClr val="B4C3D7"/>
                </a:solidFill>
              </a:rPr>
              <a:t>Restricciones únicas (`unique_together`) y validadores a nivel de modelo que impiden notas duplicadas o asignaciones incoherentes.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Aseguramiento y Control de Acceso (RBAC)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Control de Acceso RBAC: </a:t>
            </a:r>
            <a:r>
              <a:rPr b="0">
                <a:solidFill>
                  <a:srgbClr val="B4C3D7"/>
                </a:solidFill>
              </a:rPr>
              <a:t>6 roles jerárquicos estrictamente diferenciados: Administrador, Rector, Coordinador, Docente, Estudiante y Acudiente.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Principio de Menor Privilegio: </a:t>
            </a:r>
            <a:r>
              <a:rPr b="0">
                <a:solidFill>
                  <a:srgbClr val="B4C3D7"/>
                </a:solidFill>
              </a:rPr>
              <a:t>Cada usuario tiene acceso exclusivamente a los datos que requiere su función institucional. Un docente jamás puede alterar notas de cursos no asignados.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Protocolo de Evaluación Ciega: </a:t>
            </a:r>
            <a:r>
              <a:rPr b="0">
                <a:solidFill>
                  <a:srgbClr val="B4C3D7"/>
                </a:solidFill>
              </a:rPr>
              <a:t>Los estudiantes y acudientes solo acceden en modo lectura a sus propios registros consolidados sin visibilidad sobre otros alumnos.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Aislamiento entre Estudiantes: </a:t>
            </a:r>
            <a:r>
              <a:rPr b="0">
                <a:solidFill>
                  <a:srgbClr val="B4C3D7"/>
                </a:solidFill>
              </a:rPr>
              <a:t>Protección estricta de rutas y vistas para impedir acceso horizontal a datos o calificaciones ajenas.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" cy="8686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8CAE4"/>
                </a:solidFill>
                <a:latin typeface="Calibri"/>
              </a:defRPr>
            </a:pPr>
            <a:r>
              <a:t>TEMA 5 • SEGURIDAD OWASP Y CUMPLIMIENTO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94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Calibri"/>
              </a:defRPr>
            </a:pPr>
            <a:r>
              <a:t>5. Vulnerabilidades y Alternativas de Mitigación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457200"/>
            <a:ext cx="2468880" cy="64008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00A8FF"/>
                </a:solidFill>
                <a:latin typeface="Calibri"/>
              </a:defRPr>
            </a:pPr>
            <a:r>
              <a:t>PONENTE ASIGNADA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Yesireth Cabrera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2D4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C3D7"/>
                </a:solidFill>
                <a:latin typeface="Calibri"/>
              </a:defRPr>
            </a:pPr>
            <a:r>
              <a:t>ACADEMIX | Plataforma de Gestión Escolar Integral • SENA Ficha 3173430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A8FF"/>
                </a:solidFill>
                <a:latin typeface="Calibri"/>
              </a:defRPr>
            </a:pPr>
            <a:r>
              <a:t>8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Mitigación de Vulnerabilidades OWASP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Inyección SQL (SQLi) - Neutralizada: </a:t>
            </a:r>
            <a:r>
              <a:rPr b="0">
                <a:solidFill>
                  <a:srgbClr val="B4C3D7"/>
                </a:solidFill>
              </a:rPr>
              <a:t>Uso absoluto del ORM de Django con consultas parametrizadas. Cero concatenación manual de cadenas SQL en toda la plataforma.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Cross-Site Scripting (XSS) - Mitigado: </a:t>
            </a:r>
            <a:r>
              <a:rPr b="0">
                <a:solidFill>
                  <a:srgbClr val="B4C3D7"/>
                </a:solidFill>
              </a:rPr>
              <a:t>Motor de plantillas con auto-escaping nativo habilitado. Toda entrada de usuario (observaciones, tareas) se sanitiza antes de renderizarse.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Cross-Site Request Forgery (CSRF): </a:t>
            </a:r>
            <a:r>
              <a:rPr b="0">
                <a:solidFill>
                  <a:srgbClr val="B4C3D7"/>
                </a:solidFill>
              </a:rPr>
              <a:t>Tokens criptográficos únicos obligatorios mediante `{% csrf_token %}` en cada formulario POST, bloqueando peticiones maliciosas externas.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Autenticación Criptográfica Segura: </a:t>
            </a:r>
            <a:r>
              <a:rPr b="0">
                <a:solidFill>
                  <a:srgbClr val="B4C3D7"/>
                </a:solidFill>
              </a:rPr>
              <a:t>Hashing de credenciales con algoritmo PBKDF2 con hash SHA-256 y salt de 128 bits. Ninguna contraseña se almacena en texto plano.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Trazabilidad, Alternativas y Normativa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Alternativa: Módulo AuditLog: </a:t>
            </a:r>
            <a:r>
              <a:rPr b="0">
                <a:solidFill>
                  <a:srgbClr val="B4C3D7"/>
                </a:solidFill>
              </a:rPr>
              <a:t>Registro inmutable en base de datos de cada creación, modificación o eliminación: almacena usuario, fecha/hora, dirección IP y valores previos.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Protección Contra Fuerza Bruta: </a:t>
            </a:r>
            <a:r>
              <a:rPr b="0">
                <a:solidFill>
                  <a:srgbClr val="B4C3D7"/>
                </a:solidFill>
              </a:rPr>
              <a:t>Limitación de intentos fallidos de autenticación y caducidad automática de sesiones inactivas.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Cumplimiento Ley 1581 de 2012: </a:t>
            </a:r>
            <a:r>
              <a:rPr b="0">
                <a:solidFill>
                  <a:srgbClr val="B4C3D7"/>
                </a:solidFill>
              </a:rPr>
              <a:t>Alineado con el régimen de Habeas Data en Colombia para protección reforzada de datos personales de niñas, niños y adolescentes.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Trazabilidad Jurídica: </a:t>
            </a:r>
            <a:r>
              <a:rPr b="0">
                <a:solidFill>
                  <a:srgbClr val="B4C3D7"/>
                </a:solidFill>
              </a:rPr>
              <a:t>El historial disciplinario del Observador del Alumno cuenta con registro de firmas y fechas inalterables para respaldo legal de la institución.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" cy="8686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8CAE4"/>
                </a:solidFill>
                <a:latin typeface="Calibri"/>
              </a:defRPr>
            </a:pPr>
            <a:r>
              <a:t>TEMA 6 • CALIDAD, EFICIENCIA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94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Calibri"/>
              </a:defRPr>
            </a:pPr>
            <a:r>
              <a:t>6. Pruebas, Rendimiento y Conclusiones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457200"/>
            <a:ext cx="2468880" cy="64008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 b="1">
                <a:solidFill>
                  <a:srgbClr val="00A8FF"/>
                </a:solidFill>
                <a:latin typeface="Calibri"/>
              </a:defRPr>
            </a:pPr>
            <a:r>
              <a:t>PONENTE ASIGNADA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Yesireth Cabrera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309360"/>
            <a:ext cx="10728655" cy="18288"/>
          </a:xfrm>
          <a:prstGeom prst="rect">
            <a:avLst/>
          </a:prstGeom>
          <a:solidFill>
            <a:srgbClr val="2D4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B4C3D7"/>
                </a:solidFill>
                <a:latin typeface="Calibri"/>
              </a:defRPr>
            </a:pPr>
            <a:r>
              <a:t>ACADEMIX | Plataforma de Gestión Escolar Integral • SENA Ficha 3173430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00A8FF"/>
                </a:solidFill>
                <a:latin typeface="Calibri"/>
              </a:defRPr>
            </a:pPr>
            <a:r>
              <a:t>9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Pruebas de Calidad y Rendimiento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Pruebas de Humo (Smoke Tests): </a:t>
            </a:r>
            <a:r>
              <a:rPr b="0">
                <a:solidFill>
                  <a:srgbClr val="B4C3D7"/>
                </a:solidFill>
              </a:rPr>
              <a:t>Batería automatizada de pruebas con `Django TestCase` validando códigos HTTP 200 en login, boletines y paneles por rol.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Optimización contra Problema N+1: </a:t>
            </a:r>
            <a:r>
              <a:rPr b="0">
                <a:solidFill>
                  <a:srgbClr val="B4C3D7"/>
                </a:solidFill>
              </a:rPr>
              <a:t>Implementación intensiva de `select_related` (ForeignKeys) y `prefetch_related` (ManyToMany), reduciendo consultas SQL de más de 120 a solo 3 por vista.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Transacciones Atómicas: </a:t>
            </a:r>
            <a:r>
              <a:rPr b="0">
                <a:solidFill>
                  <a:srgbClr val="B4C3D7"/>
                </a:solidFill>
              </a:rPr>
              <a:t>Uso de `transaction.atomic()` en el guardado masivo de calificaciones y matrículas: si falla una nota, no se corrompe el registro general.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Caché y Compresión: </a:t>
            </a:r>
            <a:r>
              <a:rPr b="0">
                <a:solidFill>
                  <a:srgbClr val="B4C3D7"/>
                </a:solidFill>
              </a:rPr>
              <a:t>Archivos estáticos minificados con compresión Gzip y headers de caché en Nginx para respuesta inferior a 300 ms en red local.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1C2541"/>
          </a:solidFill>
          <a:ln w="1270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01168" rIns="228600" bIns="18288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48CAE4"/>
                </a:solidFill>
                <a:latin typeface="Calibri"/>
              </a:defRPr>
            </a:pPr>
            <a:r>
              <a:t>Métricas ISO 25010 y Conclusiones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Métricas de Construcción: </a:t>
            </a:r>
            <a:r>
              <a:rPr b="0">
                <a:solidFill>
                  <a:srgbClr val="B4C3D7"/>
                </a:solidFill>
              </a:rPr>
              <a:t>15 módulos totalmente operativos, 38 migraciones aplicadas exitosamente, 0 vulnerabilidades críticas detectadas.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Estándar de Calidad ISO/IEC 25010: </a:t>
            </a:r>
            <a:r>
              <a:rPr b="0">
                <a:solidFill>
                  <a:srgbClr val="B4C3D7"/>
                </a:solidFill>
              </a:rPr>
              <a:t>Altos índices de Usabilidad (diseño responsivo para móviles), Fiabilidad (respaldos diarios) y Mantenibilidad (código limpio documentado).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Soberanía y Sostenibilidad Económica: </a:t>
            </a:r>
            <a:r>
              <a:rPr b="0">
                <a:solidFill>
                  <a:srgbClr val="B4C3D7"/>
                </a:solidFill>
              </a:rPr>
              <a:t>Costo de licenciamiento de $0 COP mediante el uso ético y técnico de Software Libre, accesible a colegios públicos y privados.</a:t>
            </a:r>
          </a:p>
          <a:p>
            <a:pPr>
              <a:spcAft>
                <a:spcPts val="700"/>
              </a:spcAft>
              <a:defRPr sz="1200">
                <a:latin typeface="Calibri"/>
              </a:defRPr>
            </a:pPr>
            <a:r>
              <a:rPr b="1">
                <a:solidFill>
                  <a:srgbClr val="FFFFFF"/>
                </a:solidFill>
              </a:rPr>
              <a:t>• Conclusión de Impacto: </a:t>
            </a:r>
            <a:r>
              <a:rPr b="0">
                <a:solidFill>
                  <a:srgbClr val="B4C3D7"/>
                </a:solidFill>
              </a:rPr>
              <a:t>ACADEMIX demuestra viabilidad técnica total, optimiza la labor docente y garantiza transparencia en la comunidad educativa.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4864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  <a:latin typeface="Calibri"/>
              </a:defRPr>
            </a:pPr>
            <a:r>
              <a:t>¡Muchas Gracias por su Atención!</a:t>
            </a:r>
          </a:p>
          <a:p>
            <a:pPr algn="ctr">
              <a:spcBef>
                <a:spcPts val="1000"/>
              </a:spcBef>
              <a:defRPr sz="1800" b="1">
                <a:solidFill>
                  <a:srgbClr val="48CAE4"/>
                </a:solidFill>
                <a:latin typeface="Calibri"/>
              </a:defRPr>
            </a:pPr>
            <a:r>
              <a:t>ACADEMIX: Transformando la Gestión Escolar con Tecnología Segura, Accesible y Eficiente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3383280" cy="29260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0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Yurleidis Londoño</a:t>
            </a:r>
          </a:p>
          <a:p>
            <a:pPr>
              <a:spcAft>
                <a:spcPts val="1200"/>
              </a:spcAft>
              <a:defRPr sz="1050" b="1">
                <a:solidFill>
                  <a:srgbClr val="48CAE4"/>
                </a:solidFill>
                <a:latin typeface="Calibri"/>
              </a:defRPr>
            </a:pPr>
            <a:r>
              <a:t>APERTURA &amp; DESPLIEGUE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Problemática Institucional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Qué es ACADEMIX y Entorno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Pasos Técnicos de Instalación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Configuración de Servidor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2926080"/>
            <a:ext cx="3383280" cy="29260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Nurys González</a:t>
            </a:r>
          </a:p>
          <a:p>
            <a:pPr>
              <a:spcAft>
                <a:spcPts val="1200"/>
              </a:spcAft>
              <a:defRPr sz="1050" b="1">
                <a:solidFill>
                  <a:srgbClr val="48CAE4"/>
                </a:solidFill>
                <a:latin typeface="Calibri"/>
              </a:defRPr>
            </a:pPr>
            <a:r>
              <a:t>CONTINUIDAD &amp; ARQUITECTURA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Estrategia de Respaldo 3-2-1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Métricas RTO y RPO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Arquitectura MVT y 15 Apps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Control de Acceso RBAC 6 Roles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2926080"/>
            <a:ext cx="3383280" cy="2926080"/>
          </a:xfrm>
          <a:prstGeom prst="roundRect">
            <a:avLst/>
          </a:prstGeom>
          <a:solidFill>
            <a:srgbClr val="1C2541"/>
          </a:solidFill>
          <a:ln w="19050">
            <a:solidFill>
              <a:srgbClr val="48C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Yesireth Cabrera</a:t>
            </a:r>
          </a:p>
          <a:p>
            <a:pPr>
              <a:spcAft>
                <a:spcPts val="1200"/>
              </a:spcAft>
              <a:defRPr sz="1050" b="1">
                <a:solidFill>
                  <a:srgbClr val="48CAE4"/>
                </a:solidFill>
                <a:latin typeface="Calibri"/>
              </a:defRPr>
            </a:pPr>
            <a:r>
              <a:t>SEGURIDAD &amp; CALIDAD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Mitigación de Riesgos OWASP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Habeas Data y Ley 1581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Pruebas de Humo y Rendimiento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B4C3D7"/>
                </a:solidFill>
              </a:rPr>
              <a:t>✓ Conclusiones y Métricas ISO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B4C3D7"/>
                </a:solidFill>
                <a:latin typeface="Calibri"/>
              </a:defRPr>
            </a:pPr>
            <a:r>
              <a:t>SENA Centro de Comercio y Servicios • Ficha: 3173430 • Instructor: Anybal López •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2165</Words>
  <Application>Microsoft Office PowerPoint</Application>
  <PresentationFormat>Panorámica</PresentationFormat>
  <Paragraphs>182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SENA</cp:lastModifiedBy>
  <cp:revision>3</cp:revision>
  <dcterms:created xsi:type="dcterms:W3CDTF">2013-01-27T09:14:16Z</dcterms:created>
  <dcterms:modified xsi:type="dcterms:W3CDTF">2026-10-27T15:49:08Z</dcterms:modified>
  <cp:category/>
</cp:coreProperties>
</file>